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5CF7"/>
    <a:srgbClr val="0991B3"/>
    <a:srgbClr val="2463EC"/>
    <a:srgbClr val="F8FBFD"/>
    <a:srgbClr val="E1EAF8"/>
    <a:srgbClr val="E4EDFA"/>
    <a:srgbClr val="EAB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>
        <p:scale>
          <a:sx n="80" d="100"/>
          <a:sy n="80" d="100"/>
        </p:scale>
        <p:origin x="2344" y="1048"/>
      </p:cViewPr>
      <p:guideLst>
        <p:guide orient="horz" pos="2160"/>
        <p:guide pos="288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8408A-008A-3941-ABA6-EBCF80A2C961}" type="datetimeFigureOut">
              <a:rPr lang="en-DE" smtClean="0"/>
              <a:t>22.04.26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D3587-BEA6-CA42-92FD-2F63682DBD6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27128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D3587-BEA6-CA42-92FD-2F63682DBD67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84568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D3587-BEA6-CA42-92FD-2F63682DBD67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003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D3587-BEA6-CA42-92FD-2F63682DBD67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46725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D3587-BEA6-CA42-92FD-2F63682DBD67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75487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D3587-BEA6-CA42-92FD-2F63682DBD67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5540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D3587-BEA6-CA42-92FD-2F63682DBD67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22954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44168-62E7-A4A1-3D94-EC75B6CEF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845F5-2DE8-93B0-4868-F2CF597A6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6FCDC-AE63-CB9A-80BF-D1D62D028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E14D5-2FCE-5128-AFBF-511A038A2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D3587-BEA6-CA42-92FD-2F63682DBD67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0841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D3587-BEA6-CA42-92FD-2F63682DBD67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78588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image" Target="../media/image1.png"/><Relationship Id="rId5" Type="http://schemas.openxmlformats.org/officeDocument/2006/relationships/slide" Target="slide3.xml"/><Relationship Id="rId10" Type="http://schemas.openxmlformats.org/officeDocument/2006/relationships/slide" Target="slide9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image" Target="../media/image2.png"/><Relationship Id="rId5" Type="http://schemas.openxmlformats.org/officeDocument/2006/relationships/slide" Target="slide3.xml"/><Relationship Id="rId10" Type="http://schemas.openxmlformats.org/officeDocument/2006/relationships/slide" Target="slide9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10" Type="http://schemas.openxmlformats.org/officeDocument/2006/relationships/slide" Target="slide9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Relationship Id="rId9" Type="http://schemas.openxmlformats.org/officeDocument/2006/relationships/slide" Target="slide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6.svg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image" Target="../media/image4.svg"/><Relationship Id="rId5" Type="http://schemas.openxmlformats.org/officeDocument/2006/relationships/slide" Target="slide3.xml"/><Relationship Id="rId10" Type="http://schemas.openxmlformats.org/officeDocument/2006/relationships/slide" Target="slide9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7.jpg"/><Relationship Id="rId7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11" Type="http://schemas.openxmlformats.org/officeDocument/2006/relationships/slide" Target="slide9.xml"/><Relationship Id="rId5" Type="http://schemas.openxmlformats.org/officeDocument/2006/relationships/slide" Target="slide2.xml"/><Relationship Id="rId10" Type="http://schemas.openxmlformats.org/officeDocument/2006/relationships/slide" Target="slide7.xml"/><Relationship Id="rId4" Type="http://schemas.openxmlformats.org/officeDocument/2006/relationships/slide" Target="slide1.xml"/><Relationship Id="rId9" Type="http://schemas.openxmlformats.org/officeDocument/2006/relationships/slide" Target="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10" Type="http://schemas.openxmlformats.org/officeDocument/2006/relationships/slide" Target="slide9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10" Type="http://schemas.openxmlformats.org/officeDocument/2006/relationships/slide" Target="slide9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image" Target="../media/image8.png"/><Relationship Id="rId5" Type="http://schemas.openxmlformats.org/officeDocument/2006/relationships/slide" Target="slide3.xml"/><Relationship Id="rId10" Type="http://schemas.openxmlformats.org/officeDocument/2006/relationships/slide" Target="slide9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945" y="-27724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56030" y="2641763"/>
            <a:ext cx="92677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F172A"/>
                </a:solidFill>
                <a:latin typeface="Georgia"/>
              </a:defRPr>
            </a:pPr>
            <a:r>
              <a:rPr dirty="0"/>
              <a:t>Berlin Traffic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2854" y="3711911"/>
            <a:ext cx="85340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05050"/>
                </a:solidFill>
                <a:latin typeface="Arial"/>
              </a:defRPr>
            </a:pPr>
            <a:r>
              <a:rPr sz="2400" dirty="0">
                <a:latin typeface="Georgia" panose="02040502050405020303" pitchFamily="18" charset="0"/>
              </a:rPr>
              <a:t>From siloed mobile sensors to public dashboards</a:t>
            </a:r>
            <a:endParaRPr lang="de-DE" sz="2400" dirty="0">
              <a:latin typeface="Georgia" panose="02040502050405020303" pitchFamily="18" charset="0"/>
            </a:endParaRPr>
          </a:p>
          <a:p>
            <a:pPr algn="ctr"/>
            <a:endParaRPr lang="en-DE" dirty="0">
              <a:latin typeface="Georgia" panose="02040502050405020303" pitchFamily="18" charset="0"/>
            </a:endParaRPr>
          </a:p>
          <a:p>
            <a:pPr algn="ctr"/>
            <a:r>
              <a:rPr lang="en-DE" sz="1200" dirty="0">
                <a:solidFill>
                  <a:srgbClr val="505050"/>
                </a:solidFill>
                <a:latin typeface="Georgia" panose="02040502050405020303" pitchFamily="18" charset="0"/>
              </a:rPr>
              <a:t>#Batch </a:t>
            </a:r>
            <a:r>
              <a:rPr lang="en-GB" sz="1200" dirty="0">
                <a:solidFill>
                  <a:srgbClr val="505050"/>
                </a:solidFill>
                <a:latin typeface="Georgia" panose="02040502050405020303" pitchFamily="18" charset="0"/>
              </a:rPr>
              <a:t>batch-2189 - </a:t>
            </a:r>
            <a:r>
              <a:rPr lang="en-DE" sz="1200" dirty="0">
                <a:solidFill>
                  <a:srgbClr val="505050"/>
                </a:solidFill>
                <a:latin typeface="Georgia" panose="02040502050405020303" pitchFamily="18" charset="0"/>
              </a:rPr>
              <a:t>Team: </a:t>
            </a:r>
            <a:r>
              <a:rPr lang="en-GB" sz="1200" dirty="0">
                <a:solidFill>
                  <a:srgbClr val="505050"/>
                </a:solidFill>
                <a:latin typeface="Georgia" panose="02040502050405020303" pitchFamily="18" charset="0"/>
              </a:rPr>
              <a:t>Karin Schmitt, Dongming Monica Jiang, Lucia Fontana </a:t>
            </a:r>
            <a:endParaRPr sz="1200" dirty="0">
              <a:solidFill>
                <a:srgbClr val="505050"/>
              </a:solidFill>
              <a:latin typeface="Georgia" panose="02040502050405020303" pitchFamily="18" charset="0"/>
            </a:endParaRPr>
          </a:p>
        </p:txBody>
      </p:sp>
      <p:sp>
        <p:nvSpPr>
          <p:cNvPr id="6" name="Oval 5">
            <a:hlinkClick r:id="rId3" action="ppaction://hlinksldjump"/>
          </p:cNvPr>
          <p:cNvSpPr/>
          <p:nvPr/>
        </p:nvSpPr>
        <p:spPr>
          <a:xfrm>
            <a:off x="4998567" y="6453965"/>
            <a:ext cx="137160" cy="1371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hlinkClick r:id="rId4" action="ppaction://hlinksldjump"/>
          </p:cNvPr>
          <p:cNvSpPr/>
          <p:nvPr/>
        </p:nvSpPr>
        <p:spPr>
          <a:xfrm>
            <a:off x="527288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hlinkClick r:id="rId5" action="ppaction://hlinksldjump"/>
          </p:cNvPr>
          <p:cNvSpPr/>
          <p:nvPr/>
        </p:nvSpPr>
        <p:spPr>
          <a:xfrm>
            <a:off x="554720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hlinkClick r:id="rId6" action="ppaction://hlinksldjump"/>
          </p:cNvPr>
          <p:cNvSpPr/>
          <p:nvPr/>
        </p:nvSpPr>
        <p:spPr>
          <a:xfrm>
            <a:off x="582152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hlinkClick r:id="rId7" action="ppaction://hlinksldjump"/>
          </p:cNvPr>
          <p:cNvSpPr/>
          <p:nvPr/>
        </p:nvSpPr>
        <p:spPr>
          <a:xfrm>
            <a:off x="609584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hlinkClick r:id="rId8" action="ppaction://hlinksldjump"/>
          </p:cNvPr>
          <p:cNvSpPr/>
          <p:nvPr/>
        </p:nvSpPr>
        <p:spPr>
          <a:xfrm>
            <a:off x="637016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hlinkClick r:id="rId9" action="ppaction://hlinksldjump"/>
          </p:cNvPr>
          <p:cNvSpPr/>
          <p:nvPr/>
        </p:nvSpPr>
        <p:spPr>
          <a:xfrm>
            <a:off x="664448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hlinkClick r:id="rId10" action="ppaction://hlinksldjump"/>
          </p:cNvPr>
          <p:cNvSpPr/>
          <p:nvPr/>
        </p:nvSpPr>
        <p:spPr>
          <a:xfrm>
            <a:off x="691880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CC8F24-6CBB-72D7-F77B-C73A78943A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44756" y="1180707"/>
            <a:ext cx="3427862" cy="1461056"/>
          </a:xfrm>
          <a:prstGeom prst="rect">
            <a:avLst/>
          </a:prstGeom>
        </p:spPr>
      </p:pic>
      <p:sp>
        <p:nvSpPr>
          <p:cNvPr id="5" name="Oval 4">
            <a:hlinkClick r:id="rId10" action="ppaction://hlinksldjump"/>
            <a:extLst>
              <a:ext uri="{FF2B5EF4-FFF2-40B4-BE49-F238E27FC236}">
                <a16:creationId xmlns:a16="http://schemas.microsoft.com/office/drawing/2014/main" id="{250A26B3-8C0F-C4A7-0E54-122E232893DB}"/>
              </a:ext>
            </a:extLst>
          </p:cNvPr>
          <p:cNvSpPr/>
          <p:nvPr/>
        </p:nvSpPr>
        <p:spPr>
          <a:xfrm>
            <a:off x="719312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14400" y="731520"/>
            <a:ext cx="1371600" cy="36576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rPr sz="3200" dirty="0"/>
              <a:t>Unlocking Sensor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76579"/>
            <a:ext cx="4572000" cy="220306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0">
                <a:solidFill>
                  <a:srgbClr val="505050"/>
                </a:solidFill>
                <a:latin typeface="Arial"/>
              </a:defRPr>
            </a:pPr>
            <a:r>
              <a:rPr sz="1200" b="1" dirty="0"/>
              <a:t>The Problem</a:t>
            </a:r>
            <a:br>
              <a:rPr sz="1200" dirty="0"/>
            </a:br>
            <a:br>
              <a:rPr sz="1200" dirty="0"/>
            </a:br>
            <a:r>
              <a:rPr sz="1200" dirty="0"/>
              <a:t>• 28-41 mobile traffic sensors (counts, speed, vehicle type).</a:t>
            </a:r>
            <a:br>
              <a:rPr sz="1200" dirty="0"/>
            </a:br>
            <a:br>
              <a:rPr sz="1200" dirty="0"/>
            </a:br>
            <a:r>
              <a:rPr sz="1200" dirty="0"/>
              <a:t>• Data locked in vendor web portal (</a:t>
            </a:r>
            <a:r>
              <a:rPr sz="1200" dirty="0" err="1"/>
              <a:t>DDWeb</a:t>
            </a:r>
            <a:r>
              <a:rPr sz="1200" dirty="0"/>
              <a:t>) requiring manual downloads.</a:t>
            </a:r>
            <a:br>
              <a:rPr sz="1200" dirty="0"/>
            </a:br>
            <a:br>
              <a:rPr sz="1200" dirty="0"/>
            </a:br>
            <a:r>
              <a:rPr sz="1200" dirty="0"/>
              <a:t>• Disconnected georeferencing table tracking moving sensors</a:t>
            </a:r>
            <a:r>
              <a:rPr lang="de-DE" sz="1200" dirty="0"/>
              <a:t>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943600" y="3976576"/>
            <a:ext cx="4572000" cy="2203067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0">
                <a:solidFill>
                  <a:srgbClr val="505050"/>
                </a:solidFill>
                <a:latin typeface="Arial"/>
              </a:defRPr>
            </a:pPr>
            <a:r>
              <a:rPr sz="1200" b="1" dirty="0"/>
              <a:t>The Goal</a:t>
            </a:r>
            <a:br>
              <a:rPr sz="1200" dirty="0"/>
            </a:br>
            <a:br>
              <a:rPr sz="1200" dirty="0"/>
            </a:br>
            <a:r>
              <a:rPr sz="1200" dirty="0"/>
              <a:t>• Build automated pipeline for aggregated datasets &amp; public dashboard.</a:t>
            </a:r>
            <a:br>
              <a:rPr sz="1200" dirty="0"/>
            </a:br>
            <a:br>
              <a:rPr sz="1200" dirty="0"/>
            </a:br>
            <a:r>
              <a:rPr sz="1200" dirty="0"/>
              <a:t>• Provide key metrics: Modal split, V85 speed, hourly flow.</a:t>
            </a:r>
            <a:br>
              <a:rPr sz="1200" dirty="0"/>
            </a:br>
            <a:br>
              <a:rPr sz="1200" dirty="0"/>
            </a:br>
            <a:r>
              <a:rPr sz="1200" dirty="0"/>
              <a:t>• Multi-district scalable architecture (one config file = one district).</a:t>
            </a:r>
          </a:p>
        </p:txBody>
      </p:sp>
      <p:sp>
        <p:nvSpPr>
          <p:cNvPr id="8" name="Oval 7">
            <a:hlinkClick r:id="rId3" action="ppaction://hlinksldjump"/>
          </p:cNvPr>
          <p:cNvSpPr/>
          <p:nvPr/>
        </p:nvSpPr>
        <p:spPr>
          <a:xfrm>
            <a:off x="499856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hlinkClick r:id="rId4" action="ppaction://hlinksldjump"/>
          </p:cNvPr>
          <p:cNvSpPr/>
          <p:nvPr/>
        </p:nvSpPr>
        <p:spPr>
          <a:xfrm>
            <a:off x="5272887" y="6453965"/>
            <a:ext cx="137160" cy="1371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hlinkClick r:id="rId5" action="ppaction://hlinksldjump"/>
          </p:cNvPr>
          <p:cNvSpPr/>
          <p:nvPr/>
        </p:nvSpPr>
        <p:spPr>
          <a:xfrm>
            <a:off x="554720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hlinkClick r:id="rId6" action="ppaction://hlinksldjump"/>
          </p:cNvPr>
          <p:cNvSpPr/>
          <p:nvPr/>
        </p:nvSpPr>
        <p:spPr>
          <a:xfrm>
            <a:off x="582152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hlinkClick r:id="rId7" action="ppaction://hlinksldjump"/>
          </p:cNvPr>
          <p:cNvSpPr/>
          <p:nvPr/>
        </p:nvSpPr>
        <p:spPr>
          <a:xfrm>
            <a:off x="609584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hlinkClick r:id="rId8" action="ppaction://hlinksldjump"/>
          </p:cNvPr>
          <p:cNvSpPr/>
          <p:nvPr/>
        </p:nvSpPr>
        <p:spPr>
          <a:xfrm>
            <a:off x="637016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hlinkClick r:id="rId9" action="ppaction://hlinksldjump"/>
          </p:cNvPr>
          <p:cNvSpPr/>
          <p:nvPr/>
        </p:nvSpPr>
        <p:spPr>
          <a:xfrm>
            <a:off x="664448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hlinkClick r:id="rId10" action="ppaction://hlinksldjump"/>
          </p:cNvPr>
          <p:cNvSpPr/>
          <p:nvPr/>
        </p:nvSpPr>
        <p:spPr>
          <a:xfrm>
            <a:off x="691880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5D1AC9-13C5-269B-AEFD-15D609963F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2387" y="1923258"/>
            <a:ext cx="3073241" cy="1968624"/>
          </a:xfrm>
          <a:prstGeom prst="roundRect">
            <a:avLst/>
          </a:prstGeom>
        </p:spPr>
      </p:pic>
      <p:pic>
        <p:nvPicPr>
          <p:cNvPr id="1026" name="Picture 2" descr="Berlin Mobile Traffic Sensor">
            <a:extLst>
              <a:ext uri="{FF2B5EF4-FFF2-40B4-BE49-F238E27FC236}">
                <a16:creationId xmlns:a16="http://schemas.microsoft.com/office/drawing/2014/main" id="{ADE0F43E-E034-C438-9994-93DF1C396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80" y="1926109"/>
            <a:ext cx="2844426" cy="1897162"/>
          </a:xfrm>
          <a:prstGeom prst="round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hlinkClick r:id="rId10" action="ppaction://hlinksldjump"/>
            <a:extLst>
              <a:ext uri="{FF2B5EF4-FFF2-40B4-BE49-F238E27FC236}">
                <a16:creationId xmlns:a16="http://schemas.microsoft.com/office/drawing/2014/main" id="{BCEC5CFD-DE7A-764A-3208-6043458ECDB9}"/>
              </a:ext>
            </a:extLst>
          </p:cNvPr>
          <p:cNvSpPr/>
          <p:nvPr/>
        </p:nvSpPr>
        <p:spPr>
          <a:xfrm>
            <a:off x="7193127" y="6453965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371600" cy="36576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rPr sz="3200" dirty="0"/>
              <a:t>The Central City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10152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Arial"/>
              </a:defRPr>
            </a:pPr>
            <a:r>
              <a:rPr sz="1400" dirty="0"/>
              <a:t>Running on the strong </a:t>
            </a:r>
            <a:r>
              <a:rPr sz="1400" b="1" dirty="0" err="1"/>
              <a:t>CityLAB</a:t>
            </a:r>
            <a:r>
              <a:rPr sz="1400" b="1" dirty="0"/>
              <a:t> Berlin Open Data Hub </a:t>
            </a:r>
            <a:r>
              <a:rPr sz="1400" dirty="0"/>
              <a:t>(CIVITAS/CORE stack).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2377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1082040" y="2926080"/>
            <a:ext cx="2043932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663812"/>
            <a:ext cx="2377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  <a:latin typeface="Arial"/>
              </a:defRPr>
            </a:pPr>
            <a:r>
              <a:rPr b="1" dirty="0"/>
              <a:t>Airflow</a:t>
            </a:r>
            <a:br>
              <a:rPr dirty="0"/>
            </a:br>
            <a:endParaRPr lang="de-DE" dirty="0"/>
          </a:p>
          <a:p>
            <a:pPr algn="ctr">
              <a:defRPr sz="1400" b="0">
                <a:solidFill>
                  <a:srgbClr val="505050"/>
                </a:solidFill>
                <a:latin typeface="Arial"/>
              </a:defRPr>
            </a:pPr>
            <a:br>
              <a:rPr dirty="0"/>
            </a:br>
            <a:r>
              <a:rPr sz="1200" dirty="0"/>
              <a:t>Orchestration and scheduling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520440" y="2926080"/>
            <a:ext cx="2377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89499" y="2926080"/>
            <a:ext cx="2042515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3663812"/>
            <a:ext cx="23774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  <a:latin typeface="Arial"/>
              </a:defRPr>
            </a:pPr>
            <a:r>
              <a:rPr b="1" dirty="0" err="1"/>
              <a:t>MinIO</a:t>
            </a:r>
            <a:br>
              <a:rPr dirty="0"/>
            </a:br>
            <a:endParaRPr lang="de-DE" dirty="0"/>
          </a:p>
          <a:p>
            <a:pPr algn="ctr">
              <a:defRPr sz="1400" b="0">
                <a:solidFill>
                  <a:srgbClr val="505050"/>
                </a:solidFill>
                <a:latin typeface="Arial"/>
              </a:defRPr>
            </a:pPr>
            <a:br>
              <a:rPr dirty="0"/>
            </a:br>
            <a:r>
              <a:rPr sz="1200" dirty="0"/>
              <a:t>Raw data archiving &amp; final exports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126480" y="2926080"/>
            <a:ext cx="2377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94122" y="2926080"/>
            <a:ext cx="2042514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3535" y="3663812"/>
            <a:ext cx="23774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  <a:latin typeface="Arial"/>
              </a:defRPr>
            </a:pPr>
            <a:r>
              <a:rPr b="1" dirty="0"/>
              <a:t>PostgreSQL</a:t>
            </a:r>
            <a:br>
              <a:rPr dirty="0"/>
            </a:br>
            <a:endParaRPr lang="de-DE" dirty="0"/>
          </a:p>
          <a:p>
            <a:pPr algn="ctr">
              <a:defRPr sz="1400" b="0">
                <a:solidFill>
                  <a:srgbClr val="505050"/>
                </a:solidFill>
                <a:latin typeface="Arial"/>
              </a:defRPr>
            </a:pPr>
            <a:br>
              <a:rPr dirty="0"/>
            </a:br>
            <a:r>
              <a:rPr sz="1200" dirty="0"/>
              <a:t>Medallion storage (Bronze, Silver, Gold)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732520" y="2926080"/>
            <a:ext cx="2377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99451" y="2926080"/>
            <a:ext cx="2041452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3663812"/>
            <a:ext cx="23774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05050"/>
                </a:solidFill>
                <a:latin typeface="Arial"/>
              </a:defRPr>
            </a:pPr>
            <a:r>
              <a:rPr b="1" dirty="0"/>
              <a:t>Superset</a:t>
            </a:r>
            <a:br>
              <a:rPr dirty="0"/>
            </a:br>
            <a:endParaRPr lang="de-DE" dirty="0"/>
          </a:p>
          <a:p>
            <a:pPr algn="ctr">
              <a:defRPr sz="1400" b="0">
                <a:solidFill>
                  <a:srgbClr val="505050"/>
                </a:solidFill>
                <a:latin typeface="Arial"/>
              </a:defRPr>
            </a:pPr>
            <a:br>
              <a:rPr dirty="0"/>
            </a:br>
            <a:r>
              <a:rPr sz="1200" dirty="0"/>
              <a:t>Public-facing interactive dashboard</a:t>
            </a:r>
            <a:endParaRPr dirty="0"/>
          </a:p>
        </p:txBody>
      </p:sp>
      <p:sp>
        <p:nvSpPr>
          <p:cNvPr id="18" name="Oval 17">
            <a:hlinkClick r:id="rId3" action="ppaction://hlinksldjump"/>
          </p:cNvPr>
          <p:cNvSpPr/>
          <p:nvPr/>
        </p:nvSpPr>
        <p:spPr>
          <a:xfrm>
            <a:off x="499856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>
            <a:hlinkClick r:id="rId4" action="ppaction://hlinksldjump"/>
          </p:cNvPr>
          <p:cNvSpPr/>
          <p:nvPr/>
        </p:nvSpPr>
        <p:spPr>
          <a:xfrm>
            <a:off x="527288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hlinkClick r:id="rId5" action="ppaction://hlinksldjump"/>
          </p:cNvPr>
          <p:cNvSpPr/>
          <p:nvPr/>
        </p:nvSpPr>
        <p:spPr>
          <a:xfrm>
            <a:off x="5547207" y="6400800"/>
            <a:ext cx="137160" cy="1371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hlinkClick r:id="rId6" action="ppaction://hlinksldjump"/>
          </p:cNvPr>
          <p:cNvSpPr/>
          <p:nvPr/>
        </p:nvSpPr>
        <p:spPr>
          <a:xfrm>
            <a:off x="582152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hlinkClick r:id="rId7" action="ppaction://hlinksldjump"/>
          </p:cNvPr>
          <p:cNvSpPr/>
          <p:nvPr/>
        </p:nvSpPr>
        <p:spPr>
          <a:xfrm>
            <a:off x="609584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hlinkClick r:id="rId8" action="ppaction://hlinksldjump"/>
          </p:cNvPr>
          <p:cNvSpPr/>
          <p:nvPr/>
        </p:nvSpPr>
        <p:spPr>
          <a:xfrm>
            <a:off x="637016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hlinkClick r:id="rId9" action="ppaction://hlinksldjump"/>
          </p:cNvPr>
          <p:cNvSpPr/>
          <p:nvPr/>
        </p:nvSpPr>
        <p:spPr>
          <a:xfrm>
            <a:off x="664448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>
            <a:hlinkClick r:id="rId10" action="ppaction://hlinksldjump"/>
          </p:cNvPr>
          <p:cNvSpPr/>
          <p:nvPr/>
        </p:nvSpPr>
        <p:spPr>
          <a:xfrm>
            <a:off x="691880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B8363E-1B42-0C6E-E8EE-871C0F182BA0}"/>
              </a:ext>
            </a:extLst>
          </p:cNvPr>
          <p:cNvSpPr txBox="1"/>
          <p:nvPr/>
        </p:nvSpPr>
        <p:spPr>
          <a:xfrm>
            <a:off x="1856898" y="320214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400" b="1" dirty="0"/>
              <a:t>⏰</a:t>
            </a:r>
            <a:endParaRPr lang="en-DE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532906-1FB3-B533-6698-9CE23797F67D}"/>
              </a:ext>
            </a:extLst>
          </p:cNvPr>
          <p:cNvSpPr txBox="1"/>
          <p:nvPr/>
        </p:nvSpPr>
        <p:spPr>
          <a:xfrm>
            <a:off x="4441345" y="3202147"/>
            <a:ext cx="535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/>
              <a:t>🧺</a:t>
            </a:r>
            <a:endParaRPr lang="en-DE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D346E5-CE0F-AFF7-DD81-52919521FEA9}"/>
              </a:ext>
            </a:extLst>
          </p:cNvPr>
          <p:cNvSpPr txBox="1"/>
          <p:nvPr/>
        </p:nvSpPr>
        <p:spPr>
          <a:xfrm>
            <a:off x="7068978" y="3202147"/>
            <a:ext cx="581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/>
              <a:t>👩🏼‍🍳</a:t>
            </a:r>
            <a:endParaRPr lang="en-DE" sz="2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DB6346-A7C1-460B-7A5D-2715928516C4}"/>
              </a:ext>
            </a:extLst>
          </p:cNvPr>
          <p:cNvSpPr txBox="1"/>
          <p:nvPr/>
        </p:nvSpPr>
        <p:spPr>
          <a:xfrm>
            <a:off x="9629273" y="3202147"/>
            <a:ext cx="581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800" dirty="0"/>
              <a:t>📊</a:t>
            </a:r>
          </a:p>
        </p:txBody>
      </p:sp>
      <p:sp>
        <p:nvSpPr>
          <p:cNvPr id="27" name="Oval 26">
            <a:hlinkClick r:id="rId10" action="ppaction://hlinksldjump"/>
            <a:extLst>
              <a:ext uri="{FF2B5EF4-FFF2-40B4-BE49-F238E27FC236}">
                <a16:creationId xmlns:a16="http://schemas.microsoft.com/office/drawing/2014/main" id="{943ABE1C-19B1-BA44-A0E2-2268B2BB45D5}"/>
              </a:ext>
            </a:extLst>
          </p:cNvPr>
          <p:cNvSpPr/>
          <p:nvPr/>
        </p:nvSpPr>
        <p:spPr>
          <a:xfrm>
            <a:off x="719312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371600" cy="36576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rPr sz="3200" dirty="0"/>
              <a:t>The Weekly Airflow DAG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411480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448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5050"/>
                </a:solidFill>
                <a:latin typeface="Arial"/>
              </a:defRPr>
            </a:pPr>
            <a:r>
              <a:t>1. ingest_missions_&amp;_files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286000"/>
            <a:ext cx="1371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371600" y="2834640"/>
            <a:ext cx="411480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5050"/>
                </a:solidFill>
                <a:latin typeface="Arial"/>
              </a:defRPr>
            </a:pPr>
            <a:r>
              <a:t>2. branch_on_new_mission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834640"/>
            <a:ext cx="1371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371600" y="3383280"/>
            <a:ext cx="411480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341304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5050"/>
                </a:solidFill>
                <a:latin typeface="Arial"/>
              </a:defRPr>
            </a:pPr>
            <a:r>
              <a:rPr dirty="0"/>
              <a:t>↳ </a:t>
            </a:r>
            <a:r>
              <a:rPr dirty="0" err="1"/>
              <a:t>fetch_locations</a:t>
            </a:r>
            <a:r>
              <a:rPr dirty="0"/>
              <a:t> (skip if unchanged)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383280"/>
            <a:ext cx="137160" cy="36576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71600" y="3931920"/>
            <a:ext cx="411480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5050"/>
                </a:solidFill>
                <a:latin typeface="Arial"/>
              </a:defRPr>
            </a:pPr>
            <a:r>
              <a:t>3. run_bronze_layer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931920"/>
            <a:ext cx="13716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371600" y="4480560"/>
            <a:ext cx="411480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5448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5050"/>
                </a:solidFill>
                <a:latin typeface="Arial"/>
              </a:defRPr>
            </a:pPr>
            <a:r>
              <a:t>4. run_silver_layer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480560"/>
            <a:ext cx="13716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371600" y="5029200"/>
            <a:ext cx="411480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5448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5050"/>
                </a:solidFill>
                <a:latin typeface="Arial"/>
              </a:defRPr>
            </a:pPr>
            <a:r>
              <a:t>5. run_gold_layer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5029200"/>
            <a:ext cx="137160" cy="3657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371600" y="5577840"/>
            <a:ext cx="411480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54480" y="5577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5050"/>
                </a:solidFill>
                <a:latin typeface="Arial"/>
              </a:defRPr>
            </a:pPr>
            <a:r>
              <a:t>6. refresh_superset_cache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5577840"/>
            <a:ext cx="13716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0" y="2286000"/>
            <a:ext cx="5029200" cy="3751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Arial"/>
              </a:defRPr>
            </a:pPr>
            <a:r>
              <a:rPr sz="1400" b="1" dirty="0"/>
              <a:t>Medallion Architecture Processing</a:t>
            </a:r>
            <a:r>
              <a:rPr sz="1400" dirty="0"/>
              <a:t>:</a:t>
            </a:r>
            <a:endParaRPr lang="de-DE" sz="1400" dirty="0"/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Arial"/>
              </a:defRPr>
            </a:pPr>
            <a:br>
              <a:rPr sz="1400" dirty="0"/>
            </a:br>
            <a:r>
              <a:rPr sz="1200" dirty="0"/>
              <a:t>• </a:t>
            </a:r>
            <a:r>
              <a:rPr sz="1200" b="1" dirty="0">
                <a:solidFill>
                  <a:srgbClr val="2463EC"/>
                </a:solidFill>
              </a:rPr>
              <a:t>Bronze Layer</a:t>
            </a:r>
            <a:r>
              <a:rPr sz="1200" dirty="0"/>
              <a:t>: </a:t>
            </a:r>
            <a:endParaRPr lang="de-DE" sz="1200" dirty="0"/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Arial"/>
              </a:defRPr>
            </a:pPr>
            <a:r>
              <a:rPr sz="1200" dirty="0"/>
              <a:t>Ingests new weekly Excel files. Converted to Parquet for memory efficiency.</a:t>
            </a:r>
            <a:br>
              <a:rPr sz="1200" dirty="0"/>
            </a:br>
            <a:br>
              <a:rPr sz="1200" dirty="0"/>
            </a:br>
            <a:r>
              <a:rPr sz="1200" dirty="0"/>
              <a:t>• </a:t>
            </a:r>
            <a:r>
              <a:rPr sz="1200" b="1" dirty="0">
                <a:solidFill>
                  <a:srgbClr val="8B5CF7"/>
                </a:solidFill>
              </a:rPr>
              <a:t>Silver Layer</a:t>
            </a:r>
            <a:r>
              <a:rPr sz="1200" dirty="0"/>
              <a:t>: </a:t>
            </a:r>
            <a:endParaRPr lang="de-DE" sz="1200" dirty="0"/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Arial"/>
              </a:defRPr>
            </a:pPr>
            <a:r>
              <a:rPr sz="1200" dirty="0"/>
              <a:t>Cleans data, flags anomalies (e.g. 0 km/h speeds), and joins dynamic georeferencing table in chunks.</a:t>
            </a:r>
            <a:br>
              <a:rPr sz="1200" dirty="0"/>
            </a:br>
            <a:br>
              <a:rPr sz="1200" dirty="0"/>
            </a:br>
            <a:r>
              <a:rPr sz="1200" dirty="0"/>
              <a:t>• </a:t>
            </a:r>
            <a:r>
              <a:rPr sz="1200" b="1" dirty="0">
                <a:solidFill>
                  <a:srgbClr val="EAB305"/>
                </a:solidFill>
              </a:rPr>
              <a:t>Gold Layer</a:t>
            </a:r>
            <a:r>
              <a:rPr sz="1200" dirty="0"/>
              <a:t>: </a:t>
            </a:r>
            <a:endParaRPr lang="de-DE" sz="1200" dirty="0"/>
          </a:p>
          <a:p>
            <a:pPr algn="l">
              <a:lnSpc>
                <a:spcPct val="150000"/>
              </a:lnSpc>
              <a:defRPr sz="1600" b="0">
                <a:solidFill>
                  <a:srgbClr val="505050"/>
                </a:solidFill>
                <a:latin typeface="Arial"/>
              </a:defRPr>
            </a:pPr>
            <a:r>
              <a:rPr sz="1200" dirty="0"/>
              <a:t>Truncates and replaces aggregations optimized directly for Superset display, preventing OOM errors.</a:t>
            </a:r>
          </a:p>
        </p:txBody>
      </p:sp>
      <p:sp>
        <p:nvSpPr>
          <p:cNvPr id="27" name="Oval 26">
            <a:hlinkClick r:id="rId2" action="ppaction://hlinksldjump"/>
          </p:cNvPr>
          <p:cNvSpPr/>
          <p:nvPr/>
        </p:nvSpPr>
        <p:spPr>
          <a:xfrm>
            <a:off x="499856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>
            <a:hlinkClick r:id="rId3" action="ppaction://hlinksldjump"/>
          </p:cNvPr>
          <p:cNvSpPr/>
          <p:nvPr/>
        </p:nvSpPr>
        <p:spPr>
          <a:xfrm>
            <a:off x="527288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>
            <a:hlinkClick r:id="rId4" action="ppaction://hlinksldjump"/>
          </p:cNvPr>
          <p:cNvSpPr/>
          <p:nvPr/>
        </p:nvSpPr>
        <p:spPr>
          <a:xfrm>
            <a:off x="554720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>
            <a:hlinkClick r:id="rId5" action="ppaction://hlinksldjump"/>
          </p:cNvPr>
          <p:cNvSpPr/>
          <p:nvPr/>
        </p:nvSpPr>
        <p:spPr>
          <a:xfrm>
            <a:off x="5821527" y="6400800"/>
            <a:ext cx="137160" cy="1371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>
            <a:hlinkClick r:id="rId6" action="ppaction://hlinksldjump"/>
          </p:cNvPr>
          <p:cNvSpPr/>
          <p:nvPr/>
        </p:nvSpPr>
        <p:spPr>
          <a:xfrm>
            <a:off x="609584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>
            <a:hlinkClick r:id="rId7" action="ppaction://hlinksldjump"/>
          </p:cNvPr>
          <p:cNvSpPr/>
          <p:nvPr/>
        </p:nvSpPr>
        <p:spPr>
          <a:xfrm>
            <a:off x="637016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>
            <a:hlinkClick r:id="rId8" action="ppaction://hlinksldjump"/>
          </p:cNvPr>
          <p:cNvSpPr/>
          <p:nvPr/>
        </p:nvSpPr>
        <p:spPr>
          <a:xfrm>
            <a:off x="664448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>
            <a:hlinkClick r:id="rId9" action="ppaction://hlinksldjump"/>
          </p:cNvPr>
          <p:cNvSpPr/>
          <p:nvPr/>
        </p:nvSpPr>
        <p:spPr>
          <a:xfrm>
            <a:off x="691880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>
            <a:hlinkClick r:id="rId9" action="ppaction://hlinksldjump"/>
            <a:extLst>
              <a:ext uri="{FF2B5EF4-FFF2-40B4-BE49-F238E27FC236}">
                <a16:creationId xmlns:a16="http://schemas.microsoft.com/office/drawing/2014/main" id="{5A00BCA7-6422-2A54-9A90-DC0361A2B924}"/>
              </a:ext>
            </a:extLst>
          </p:cNvPr>
          <p:cNvSpPr/>
          <p:nvPr/>
        </p:nvSpPr>
        <p:spPr>
          <a:xfrm>
            <a:off x="7193127" y="6395239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7176" y="-29667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389120" y="2743200"/>
            <a:ext cx="3200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371600" cy="36576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rPr sz="3200" dirty="0"/>
              <a:t>Key Traffic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200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4600" y="2732567"/>
            <a:ext cx="288000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49320" y="2730708"/>
            <a:ext cx="2880000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863840" y="2743200"/>
            <a:ext cx="3200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24040" y="2744530"/>
            <a:ext cx="288000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hlinkClick r:id="rId3" action="ppaction://hlinksldjump"/>
          </p:cNvPr>
          <p:cNvSpPr/>
          <p:nvPr/>
        </p:nvSpPr>
        <p:spPr>
          <a:xfrm>
            <a:off x="5156613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hlinkClick r:id="rId4" action="ppaction://hlinksldjump"/>
          </p:cNvPr>
          <p:cNvSpPr/>
          <p:nvPr/>
        </p:nvSpPr>
        <p:spPr>
          <a:xfrm>
            <a:off x="5430933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hlinkClick r:id="rId5" action="ppaction://hlinksldjump"/>
          </p:cNvPr>
          <p:cNvSpPr/>
          <p:nvPr/>
        </p:nvSpPr>
        <p:spPr>
          <a:xfrm>
            <a:off x="5705253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hlinkClick r:id="rId6" action="ppaction://hlinksldjump"/>
          </p:cNvPr>
          <p:cNvSpPr/>
          <p:nvPr/>
        </p:nvSpPr>
        <p:spPr>
          <a:xfrm>
            <a:off x="6250376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hlinkClick r:id="rId7" action="ppaction://hlinksldjump"/>
          </p:cNvPr>
          <p:cNvSpPr/>
          <p:nvPr/>
        </p:nvSpPr>
        <p:spPr>
          <a:xfrm>
            <a:off x="5979573" y="6400800"/>
            <a:ext cx="137160" cy="1371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0FE9553-ECC4-8DBF-0FF8-BE8757908571}"/>
              </a:ext>
            </a:extLst>
          </p:cNvPr>
          <p:cNvSpPr/>
          <p:nvPr/>
        </p:nvSpPr>
        <p:spPr>
          <a:xfrm>
            <a:off x="1233378" y="4587607"/>
            <a:ext cx="2519916" cy="273666"/>
          </a:xfrm>
          <a:prstGeom prst="roundRect">
            <a:avLst/>
          </a:prstGeom>
          <a:solidFill>
            <a:srgbClr val="F8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Oval 18">
            <a:hlinkClick r:id="rId8" action="ppaction://hlinksldjump"/>
          </p:cNvPr>
          <p:cNvSpPr/>
          <p:nvPr/>
        </p:nvSpPr>
        <p:spPr>
          <a:xfrm>
            <a:off x="6528213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hlinkClick r:id="rId9" action="ppaction://hlinksldjump"/>
          </p:cNvPr>
          <p:cNvSpPr/>
          <p:nvPr/>
        </p:nvSpPr>
        <p:spPr>
          <a:xfrm>
            <a:off x="6802533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hlinkClick r:id="rId10" action="ppaction://hlinksldjump"/>
          </p:cNvPr>
          <p:cNvSpPr/>
          <p:nvPr/>
        </p:nvSpPr>
        <p:spPr>
          <a:xfrm>
            <a:off x="7076853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26FA21-97CE-94C7-DD67-6447F688C7DB}"/>
              </a:ext>
            </a:extLst>
          </p:cNvPr>
          <p:cNvSpPr txBox="1"/>
          <p:nvPr/>
        </p:nvSpPr>
        <p:spPr>
          <a:xfrm>
            <a:off x="2367903" y="5680650"/>
            <a:ext cx="74558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i="1" dirty="0">
                <a:solidFill>
                  <a:schemeClr val="bg1">
                    <a:lumMod val="50000"/>
                  </a:schemeClr>
                </a:solidFill>
              </a:rPr>
              <a:t>Note: Bikes under 10km/h and the distinction between Vans/Trucks at low speeds are known sensor limitations accounted for in the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88517"/>
            <a:ext cx="2834640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Arial"/>
              </a:defRPr>
            </a:pPr>
            <a:r>
              <a:rPr b="1" dirty="0"/>
              <a:t>Modal Split</a:t>
            </a:r>
            <a:br>
              <a:rPr dirty="0"/>
            </a:br>
            <a:br>
              <a:rPr dirty="0"/>
            </a:br>
            <a:r>
              <a:rPr sz="1200" dirty="0"/>
              <a:t>Share of each vehicle type (Cars, Trucks, Bikes, Vans, Motorcycles) as a percentage of total traffic.</a:t>
            </a:r>
            <a:endParaRPr lang="de-DE" sz="1200" dirty="0"/>
          </a:p>
          <a:p>
            <a:pPr algn="l">
              <a:defRPr sz="1600" b="0">
                <a:solidFill>
                  <a:srgbClr val="505050"/>
                </a:solidFill>
                <a:latin typeface="Arial"/>
              </a:defRPr>
            </a:pPr>
            <a:endParaRPr lang="de-DE" sz="1200" dirty="0"/>
          </a:p>
          <a:p>
            <a:pPr algn="l">
              <a:defRPr sz="1600" b="0">
                <a:solidFill>
                  <a:srgbClr val="505050"/>
                </a:solidFill>
                <a:latin typeface="Arial"/>
              </a:defRPr>
            </a:pPr>
            <a:endParaRPr lang="en-DE" sz="1200" dirty="0"/>
          </a:p>
          <a:p>
            <a:pPr algn="ctr">
              <a:defRPr sz="1600" b="0">
                <a:solidFill>
                  <a:srgbClr val="505050"/>
                </a:solidFill>
                <a:latin typeface="Arial"/>
              </a:defRPr>
            </a:pP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(Class / Total) * 100</a:t>
            </a:r>
            <a:endParaRPr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7" name="Graphic 26" descr="Cake slice outline">
            <a:extLst>
              <a:ext uri="{FF2B5EF4-FFF2-40B4-BE49-F238E27FC236}">
                <a16:creationId xmlns:a16="http://schemas.microsoft.com/office/drawing/2014/main" id="{B0D9CE27-8CF5-9B4B-41C4-2346F11DD5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86000" y="3142188"/>
            <a:ext cx="514290" cy="514290"/>
          </a:xfrm>
          <a:prstGeom prst="rect">
            <a:avLst/>
          </a:prstGeom>
        </p:spPr>
      </p:pic>
      <p:pic>
        <p:nvPicPr>
          <p:cNvPr id="31" name="Graphic 30" descr="Delivery outline">
            <a:extLst>
              <a:ext uri="{FF2B5EF4-FFF2-40B4-BE49-F238E27FC236}">
                <a16:creationId xmlns:a16="http://schemas.microsoft.com/office/drawing/2014/main" id="{C46986B1-AE5C-BF8D-7723-EDF83B57D1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21527" y="3142188"/>
            <a:ext cx="514290" cy="514290"/>
          </a:xfrm>
          <a:prstGeom prst="rect">
            <a:avLst/>
          </a:prstGeom>
        </p:spPr>
      </p:pic>
      <p:pic>
        <p:nvPicPr>
          <p:cNvPr id="34" name="Graphic 33" descr="Hourglass 90% outline">
            <a:extLst>
              <a:ext uri="{FF2B5EF4-FFF2-40B4-BE49-F238E27FC236}">
                <a16:creationId xmlns:a16="http://schemas.microsoft.com/office/drawing/2014/main" id="{2E43F299-918D-B191-D315-0C1AE16CF1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84786" y="3142188"/>
            <a:ext cx="514290" cy="514290"/>
          </a:xfrm>
          <a:prstGeom prst="rect">
            <a:avLst/>
          </a:prstGeom>
        </p:spPr>
      </p:pic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00E2A9C-6CB3-470B-F969-B408437B9B0F}"/>
              </a:ext>
            </a:extLst>
          </p:cNvPr>
          <p:cNvSpPr/>
          <p:nvPr/>
        </p:nvSpPr>
        <p:spPr>
          <a:xfrm>
            <a:off x="4818714" y="4587607"/>
            <a:ext cx="2519916" cy="273666"/>
          </a:xfrm>
          <a:prstGeom prst="roundRect">
            <a:avLst/>
          </a:prstGeom>
          <a:solidFill>
            <a:srgbClr val="F8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E936F65-1950-A2B8-4362-8C734B0C28CB}"/>
              </a:ext>
            </a:extLst>
          </p:cNvPr>
          <p:cNvSpPr/>
          <p:nvPr/>
        </p:nvSpPr>
        <p:spPr>
          <a:xfrm>
            <a:off x="8204082" y="4577351"/>
            <a:ext cx="2519916" cy="273666"/>
          </a:xfrm>
          <a:prstGeom prst="roundRect">
            <a:avLst/>
          </a:prstGeom>
          <a:solidFill>
            <a:srgbClr val="F8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2834640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Arial"/>
              </a:defRPr>
            </a:pPr>
            <a:r>
              <a:rPr b="1" dirty="0"/>
              <a:t>V85 Speed</a:t>
            </a:r>
            <a:br>
              <a:rPr dirty="0"/>
            </a:br>
            <a:br>
              <a:rPr dirty="0"/>
            </a:br>
            <a:r>
              <a:rPr sz="1200" dirty="0"/>
              <a:t>The speed below which 85% of motorized vehicles travel. Standard metric for speed limits.</a:t>
            </a:r>
            <a:endParaRPr lang="de-DE" sz="1200" dirty="0"/>
          </a:p>
          <a:p>
            <a:pPr algn="l">
              <a:defRPr sz="1600" b="0">
                <a:solidFill>
                  <a:srgbClr val="505050"/>
                </a:solidFill>
                <a:latin typeface="Arial"/>
              </a:defRPr>
            </a:pPr>
            <a:endParaRPr lang="en-DE" sz="1200" dirty="0">
              <a:solidFill>
                <a:srgbClr val="505050"/>
              </a:solidFill>
              <a:latin typeface="Arial"/>
            </a:endParaRPr>
          </a:p>
          <a:p>
            <a:pPr algn="l">
              <a:defRPr sz="1600" b="0">
                <a:solidFill>
                  <a:srgbClr val="505050"/>
                </a:solidFill>
                <a:latin typeface="Arial"/>
              </a:defRPr>
            </a:pPr>
            <a:endParaRPr lang="en-DE" sz="1200" dirty="0">
              <a:solidFill>
                <a:srgbClr val="505050"/>
              </a:solidFill>
              <a:latin typeface="Arial"/>
            </a:endParaRPr>
          </a:p>
          <a:p>
            <a:pPr algn="ctr">
              <a:defRPr sz="1600" b="0">
                <a:solidFill>
                  <a:srgbClr val="505050"/>
                </a:solidFill>
                <a:latin typeface="Arial"/>
              </a:defRPr>
            </a:pPr>
            <a:r>
              <a:rPr lang="en-GB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df</a:t>
            </a: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['speed'].quantile(0.85)</a:t>
            </a:r>
            <a:endParaRPr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20" y="3188517"/>
            <a:ext cx="2834640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Arial"/>
              </a:defRPr>
            </a:pPr>
            <a:r>
              <a:rPr b="1" dirty="0"/>
              <a:t>Hourly Flow</a:t>
            </a:r>
            <a:br>
              <a:rPr dirty="0"/>
            </a:br>
            <a:br>
              <a:rPr dirty="0"/>
            </a:br>
            <a:r>
              <a:rPr sz="1200" dirty="0"/>
              <a:t>Total vehicle count per hour per sensor. Shows traffic patterns over time.</a:t>
            </a:r>
            <a:endParaRPr lang="de-DE" sz="1200" dirty="0"/>
          </a:p>
          <a:p>
            <a:pPr algn="l">
              <a:defRPr sz="1600" b="0">
                <a:solidFill>
                  <a:srgbClr val="505050"/>
                </a:solidFill>
                <a:latin typeface="Arial"/>
              </a:defRPr>
            </a:pPr>
            <a:endParaRPr lang="en-DE" sz="1200" dirty="0"/>
          </a:p>
          <a:p>
            <a:pPr algn="l">
              <a:defRPr sz="1600" b="0">
                <a:solidFill>
                  <a:srgbClr val="505050"/>
                </a:solidFill>
                <a:latin typeface="Arial"/>
              </a:defRPr>
            </a:pPr>
            <a:endParaRPr lang="en-DE" sz="1200" dirty="0"/>
          </a:p>
          <a:p>
            <a:pPr algn="ctr">
              <a:defRPr sz="1600" b="0">
                <a:solidFill>
                  <a:srgbClr val="505050"/>
                </a:solidFill>
                <a:latin typeface="Arial"/>
              </a:defRPr>
            </a:pPr>
            <a:r>
              <a:rPr lang="en-GB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Group by Date + Hour</a:t>
            </a:r>
            <a:endParaRPr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Oval 23">
            <a:hlinkClick r:id="rId3" action="ppaction://hlinksldjump"/>
            <a:extLst>
              <a:ext uri="{FF2B5EF4-FFF2-40B4-BE49-F238E27FC236}">
                <a16:creationId xmlns:a16="http://schemas.microsoft.com/office/drawing/2014/main" id="{828AE350-11FC-D248-9897-45A8A9B0C3E9}"/>
              </a:ext>
            </a:extLst>
          </p:cNvPr>
          <p:cNvSpPr/>
          <p:nvPr/>
        </p:nvSpPr>
        <p:spPr>
          <a:xfrm>
            <a:off x="4881716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17697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371600" cy="36576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OUTPUT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017844" y="2090340"/>
            <a:ext cx="7881686" cy="40361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85719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rPr sz="3200" dirty="0"/>
              <a:t>Public Superset Dashboard</a:t>
            </a:r>
            <a:r>
              <a:rPr lang="de-DE" sz="3200" dirty="0"/>
              <a:t>: Demo ✨</a:t>
            </a:r>
            <a:endParaRPr sz="3200" dirty="0"/>
          </a:p>
        </p:txBody>
      </p:sp>
      <p:sp>
        <p:nvSpPr>
          <p:cNvPr id="6" name="Oval 5">
            <a:hlinkClick r:id="rId4" action="ppaction://hlinksldjump"/>
          </p:cNvPr>
          <p:cNvSpPr/>
          <p:nvPr/>
        </p:nvSpPr>
        <p:spPr>
          <a:xfrm>
            <a:off x="499856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hlinkClick r:id="rId5" action="ppaction://hlinksldjump"/>
          </p:cNvPr>
          <p:cNvSpPr/>
          <p:nvPr/>
        </p:nvSpPr>
        <p:spPr>
          <a:xfrm>
            <a:off x="527288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hlinkClick r:id="rId6" action="ppaction://hlinksldjump"/>
          </p:cNvPr>
          <p:cNvSpPr/>
          <p:nvPr/>
        </p:nvSpPr>
        <p:spPr>
          <a:xfrm>
            <a:off x="554720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hlinkClick r:id="rId7" action="ppaction://hlinksldjump"/>
          </p:cNvPr>
          <p:cNvSpPr/>
          <p:nvPr/>
        </p:nvSpPr>
        <p:spPr>
          <a:xfrm>
            <a:off x="582152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hlinkClick r:id="rId8" action="ppaction://hlinksldjump"/>
          </p:cNvPr>
          <p:cNvSpPr/>
          <p:nvPr/>
        </p:nvSpPr>
        <p:spPr>
          <a:xfrm>
            <a:off x="6370167" y="6395136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hlinkClick r:id="rId9" action="ppaction://hlinksldjump"/>
          </p:cNvPr>
          <p:cNvSpPr/>
          <p:nvPr/>
        </p:nvSpPr>
        <p:spPr>
          <a:xfrm>
            <a:off x="6095847" y="6400800"/>
            <a:ext cx="137160" cy="1371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hlinkClick r:id="rId10" action="ppaction://hlinksldjump"/>
          </p:cNvPr>
          <p:cNvSpPr/>
          <p:nvPr/>
        </p:nvSpPr>
        <p:spPr>
          <a:xfrm>
            <a:off x="664448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hlinkClick r:id="rId11" action="ppaction://hlinksldjump"/>
          </p:cNvPr>
          <p:cNvSpPr/>
          <p:nvPr/>
        </p:nvSpPr>
        <p:spPr>
          <a:xfrm>
            <a:off x="691880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hlinkClick r:id="rId4" action="ppaction://hlinksldjump"/>
            <a:extLst>
              <a:ext uri="{FF2B5EF4-FFF2-40B4-BE49-F238E27FC236}">
                <a16:creationId xmlns:a16="http://schemas.microsoft.com/office/drawing/2014/main" id="{1A96B00D-7CF5-597F-F67A-BC940F65AFE0}"/>
              </a:ext>
            </a:extLst>
          </p:cNvPr>
          <p:cNvSpPr/>
          <p:nvPr/>
        </p:nvSpPr>
        <p:spPr>
          <a:xfrm>
            <a:off x="472424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8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371600" cy="36576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1188720"/>
            <a:ext cx="83912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rPr sz="3200" dirty="0"/>
              <a:t>Project Workflow &amp; Team Synergy</a:t>
            </a:r>
            <a:endParaRPr lang="de-DE" sz="3200" dirty="0"/>
          </a:p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endParaRPr lang="en-DE" sz="1600" dirty="0"/>
          </a:p>
          <a:p>
            <a:r>
              <a:rPr lang="en-GB" sz="1400" dirty="0"/>
              <a:t>A look into our agile development process, iterative problem-solving, and continuous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200400" cy="238011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4600" y="2753439"/>
            <a:ext cx="288000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907327"/>
            <a:ext cx="32004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05050"/>
                </a:solidFill>
                <a:latin typeface="Arial"/>
              </a:defRPr>
            </a:pPr>
            <a:r>
              <a:rPr sz="1400" b="1" dirty="0">
                <a:solidFill>
                  <a:srgbClr val="2463EC"/>
                </a:solidFill>
              </a:rPr>
              <a:t>1. </a:t>
            </a:r>
            <a:r>
              <a:rPr lang="en-GB" sz="1400" b="1" dirty="0">
                <a:solidFill>
                  <a:srgbClr val="2463EC"/>
                </a:solidFill>
              </a:rPr>
              <a:t>Infrastructure &amp; Setup</a:t>
            </a:r>
            <a:br>
              <a:rPr dirty="0"/>
            </a:br>
            <a:br>
              <a:rPr dirty="0"/>
            </a:br>
            <a:r>
              <a:rPr lang="de-DE" sz="1200" dirty="0"/>
              <a:t>- </a:t>
            </a:r>
            <a:r>
              <a:rPr lang="en-GB" sz="1200" dirty="0"/>
              <a:t>Docker Compose mirroring full stack (Airflow, Superset, </a:t>
            </a:r>
            <a:r>
              <a:rPr lang="en-GB" sz="1200" dirty="0" err="1"/>
              <a:t>MinIO</a:t>
            </a:r>
            <a:r>
              <a:rPr lang="en-GB" sz="1200" dirty="0"/>
              <a:t>, Postgres).</a:t>
            </a:r>
            <a:br>
              <a:rPr sz="1200" dirty="0"/>
            </a:br>
            <a:br>
              <a:rPr sz="1200" dirty="0"/>
            </a:br>
            <a:r>
              <a:rPr lang="de-DE" sz="1200" dirty="0"/>
              <a:t>- </a:t>
            </a:r>
            <a:r>
              <a:rPr lang="en-GB" sz="1200" dirty="0"/>
              <a:t>Version control with GitHub branches and PRs to avoid conflicts.</a:t>
            </a:r>
            <a:br>
              <a:rPr sz="1200" dirty="0"/>
            </a:br>
            <a:br>
              <a:rPr sz="1200" dirty="0"/>
            </a:br>
            <a:r>
              <a:rPr lang="de-DE" sz="1200" dirty="0"/>
              <a:t>- </a:t>
            </a:r>
            <a:r>
              <a:rPr lang="en-GB" sz="1200" dirty="0"/>
              <a:t>Fixed Python 3.8 and Airflow compatibility issues iteratively.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743199"/>
            <a:ext cx="3200400" cy="2380117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49320" y="2743200"/>
            <a:ext cx="2880000" cy="91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2907327"/>
            <a:ext cx="301752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05050"/>
                </a:solidFill>
                <a:latin typeface="Arial"/>
              </a:defRPr>
            </a:pPr>
            <a:r>
              <a:rPr lang="en-GB" sz="1400" b="1" dirty="0">
                <a:solidFill>
                  <a:srgbClr val="0991B3"/>
                </a:solidFill>
              </a:rPr>
              <a:t>2. Data Engineering (Medallion)</a:t>
            </a:r>
            <a:br>
              <a:rPr dirty="0"/>
            </a:br>
            <a:endParaRPr lang="de-DE" dirty="0"/>
          </a:p>
          <a:p>
            <a:pPr marL="285750" indent="-285750">
              <a:buFontTx/>
              <a:buChar char="-"/>
              <a:defRPr sz="1600" b="0">
                <a:solidFill>
                  <a:srgbClr val="505050"/>
                </a:solidFill>
                <a:latin typeface="Arial"/>
              </a:defRPr>
            </a:pPr>
            <a:r>
              <a:rPr lang="en-GB" sz="1200" b="1" dirty="0">
                <a:solidFill>
                  <a:srgbClr val="505050"/>
                </a:solidFill>
                <a:latin typeface="Arial"/>
              </a:rPr>
              <a:t>Bronze</a:t>
            </a:r>
            <a:r>
              <a:rPr lang="en-GB" sz="1200" dirty="0">
                <a:solidFill>
                  <a:srgbClr val="505050"/>
                </a:solidFill>
                <a:latin typeface="Arial"/>
              </a:rPr>
              <a:t>: Ingested Excel files via Airflow. Solved OOM crashes by converting to Parquet.</a:t>
            </a:r>
          </a:p>
          <a:p>
            <a:pPr marL="285750" indent="-285750">
              <a:buFontTx/>
              <a:buChar char="-"/>
              <a:defRPr sz="1600" b="0">
                <a:solidFill>
                  <a:srgbClr val="505050"/>
                </a:solidFill>
                <a:latin typeface="Arial"/>
              </a:defRPr>
            </a:pPr>
            <a:endParaRPr lang="en-GB" sz="1200" dirty="0">
              <a:solidFill>
                <a:srgbClr val="505050"/>
              </a:solidFill>
              <a:latin typeface="Arial"/>
            </a:endParaRPr>
          </a:p>
          <a:p>
            <a:pPr marL="285750" indent="-285750">
              <a:buFontTx/>
              <a:buChar char="-"/>
              <a:defRPr sz="1600" b="0">
                <a:solidFill>
                  <a:srgbClr val="505050"/>
                </a:solidFill>
                <a:latin typeface="Arial"/>
              </a:defRPr>
            </a:pPr>
            <a:r>
              <a:rPr lang="en-GB" sz="1200" b="1" dirty="0">
                <a:solidFill>
                  <a:srgbClr val="505050"/>
                </a:solidFill>
                <a:latin typeface="Arial"/>
              </a:rPr>
              <a:t>Silver</a:t>
            </a:r>
            <a:r>
              <a:rPr lang="en-GB" sz="1200" dirty="0">
                <a:solidFill>
                  <a:srgbClr val="505050"/>
                </a:solidFill>
                <a:latin typeface="Arial"/>
              </a:rPr>
              <a:t>: Cleaned 8M+ rows in chunks, flagged anomalies. </a:t>
            </a:r>
          </a:p>
          <a:p>
            <a:pPr marL="285750" indent="-285750">
              <a:buFontTx/>
              <a:buChar char="-"/>
              <a:defRPr sz="1600" b="0">
                <a:solidFill>
                  <a:srgbClr val="505050"/>
                </a:solidFill>
                <a:latin typeface="Arial"/>
              </a:defRPr>
            </a:pPr>
            <a:endParaRPr lang="en-GB" sz="1200" dirty="0">
              <a:solidFill>
                <a:srgbClr val="505050"/>
              </a:solidFill>
              <a:latin typeface="Arial"/>
            </a:endParaRPr>
          </a:p>
          <a:p>
            <a:pPr marL="285750" indent="-285750">
              <a:buFontTx/>
              <a:buChar char="-"/>
              <a:defRPr sz="1600" b="0">
                <a:solidFill>
                  <a:srgbClr val="505050"/>
                </a:solidFill>
                <a:latin typeface="Arial"/>
              </a:defRPr>
            </a:pPr>
            <a:r>
              <a:rPr lang="en-GB" sz="1200" b="1" dirty="0">
                <a:solidFill>
                  <a:srgbClr val="505050"/>
                </a:solidFill>
                <a:latin typeface="Arial"/>
              </a:rPr>
              <a:t>Gold</a:t>
            </a:r>
            <a:r>
              <a:rPr lang="en-GB" sz="1200" dirty="0">
                <a:solidFill>
                  <a:srgbClr val="505050"/>
                </a:solidFill>
                <a:latin typeface="Arial"/>
              </a:rPr>
              <a:t>: Truncate/replace hourly aggregations optimized for Superset</a:t>
            </a:r>
            <a:r>
              <a:rPr lang="en-GB" sz="12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743200"/>
            <a:ext cx="3200400" cy="238011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9760" y="2743200"/>
            <a:ext cx="288000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0" y="2907327"/>
            <a:ext cx="31089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05050"/>
                </a:solidFill>
                <a:latin typeface="Arial"/>
              </a:defRPr>
            </a:pPr>
            <a:r>
              <a:rPr lang="en-GB" sz="1400" b="1" dirty="0">
                <a:solidFill>
                  <a:srgbClr val="8B5CF7"/>
                </a:solidFill>
              </a:rPr>
              <a:t>3. Dashboard &amp; Design</a:t>
            </a:r>
            <a:br>
              <a:rPr dirty="0"/>
            </a:br>
            <a:endParaRPr lang="en-DE" dirty="0"/>
          </a:p>
          <a:p>
            <a:pPr marL="285750" indent="-285750">
              <a:buFontTx/>
              <a:buChar char="-"/>
            </a:pPr>
            <a:r>
              <a:rPr lang="en-GB" sz="1200" dirty="0">
                <a:solidFill>
                  <a:srgbClr val="505050"/>
                </a:solidFill>
                <a:latin typeface="Arial"/>
              </a:rPr>
              <a:t>Started with mock data, seamlessly transitioned to real Postgres data.</a:t>
            </a:r>
          </a:p>
          <a:p>
            <a:pPr marL="285750" indent="-285750">
              <a:buFontTx/>
              <a:buChar char="-"/>
            </a:pPr>
            <a:endParaRPr lang="en-GB" sz="1200" dirty="0">
              <a:solidFill>
                <a:srgbClr val="505050"/>
              </a:solidFill>
              <a:latin typeface="Arial"/>
            </a:endParaRPr>
          </a:p>
          <a:p>
            <a:pPr marL="285750" indent="-285750">
              <a:buFontTx/>
              <a:buChar char="-"/>
            </a:pPr>
            <a:r>
              <a:rPr lang="en-GB" sz="1200" dirty="0">
                <a:solidFill>
                  <a:srgbClr val="505050"/>
                </a:solidFill>
                <a:latin typeface="Arial"/>
              </a:rPr>
              <a:t>Implemented </a:t>
            </a:r>
            <a:r>
              <a:rPr lang="en-GB" sz="1200" dirty="0" err="1">
                <a:solidFill>
                  <a:srgbClr val="505050"/>
                </a:solidFill>
                <a:latin typeface="Arial"/>
              </a:rPr>
              <a:t>BerlinType</a:t>
            </a:r>
            <a:r>
              <a:rPr lang="en-GB" sz="1200" dirty="0">
                <a:solidFill>
                  <a:srgbClr val="505050"/>
                </a:solidFill>
                <a:latin typeface="Arial"/>
              </a:rPr>
              <a:t> fonts and CSS for brand compliance.</a:t>
            </a:r>
          </a:p>
          <a:p>
            <a:pPr marL="285750" indent="-285750">
              <a:buFontTx/>
              <a:buChar char="-"/>
            </a:pPr>
            <a:endParaRPr lang="en-GB" sz="1200" dirty="0">
              <a:solidFill>
                <a:srgbClr val="505050"/>
              </a:solidFill>
              <a:latin typeface="Arial"/>
            </a:endParaRPr>
          </a:p>
          <a:p>
            <a:pPr marL="285750" indent="-285750">
              <a:buFontTx/>
              <a:buChar char="-"/>
            </a:pPr>
            <a:r>
              <a:rPr lang="en-GB" sz="1200" dirty="0" err="1">
                <a:solidFill>
                  <a:srgbClr val="505050"/>
                </a:solidFill>
                <a:latin typeface="Arial"/>
              </a:rPr>
              <a:t>Deck.gl</a:t>
            </a:r>
            <a:r>
              <a:rPr lang="en-GB" sz="1200" dirty="0">
                <a:solidFill>
                  <a:srgbClr val="505050"/>
                </a:solidFill>
                <a:latin typeface="Arial"/>
              </a:rPr>
              <a:t> maps with OpenStreetMap basemap.</a:t>
            </a:r>
          </a:p>
        </p:txBody>
      </p:sp>
      <p:sp>
        <p:nvSpPr>
          <p:cNvPr id="14" name="Oval 13">
            <a:hlinkClick r:id="rId3" action="ppaction://hlinksldjump"/>
          </p:cNvPr>
          <p:cNvSpPr/>
          <p:nvPr/>
        </p:nvSpPr>
        <p:spPr>
          <a:xfrm>
            <a:off x="499856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hlinkClick r:id="rId4" action="ppaction://hlinksldjump"/>
          </p:cNvPr>
          <p:cNvSpPr/>
          <p:nvPr/>
        </p:nvSpPr>
        <p:spPr>
          <a:xfrm>
            <a:off x="527288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hlinkClick r:id="rId5" action="ppaction://hlinksldjump"/>
          </p:cNvPr>
          <p:cNvSpPr/>
          <p:nvPr/>
        </p:nvSpPr>
        <p:spPr>
          <a:xfrm>
            <a:off x="554720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hlinkClick r:id="rId6" action="ppaction://hlinksldjump"/>
          </p:cNvPr>
          <p:cNvSpPr/>
          <p:nvPr/>
        </p:nvSpPr>
        <p:spPr>
          <a:xfrm>
            <a:off x="582152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hlinkClick r:id="rId7" action="ppaction://hlinksldjump"/>
          </p:cNvPr>
          <p:cNvSpPr/>
          <p:nvPr/>
        </p:nvSpPr>
        <p:spPr>
          <a:xfrm>
            <a:off x="609584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>
            <a:hlinkClick r:id="rId8" action="ppaction://hlinksldjump"/>
          </p:cNvPr>
          <p:cNvSpPr/>
          <p:nvPr/>
        </p:nvSpPr>
        <p:spPr>
          <a:xfrm>
            <a:off x="664448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hlinkClick r:id="rId9" action="ppaction://hlinksldjump"/>
          </p:cNvPr>
          <p:cNvSpPr/>
          <p:nvPr/>
        </p:nvSpPr>
        <p:spPr>
          <a:xfrm>
            <a:off x="6370167" y="6400800"/>
            <a:ext cx="137160" cy="1371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hlinkClick r:id="rId10" action="ppaction://hlinksldjump"/>
          </p:cNvPr>
          <p:cNvSpPr/>
          <p:nvPr/>
        </p:nvSpPr>
        <p:spPr>
          <a:xfrm>
            <a:off x="691880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hlinkClick r:id="rId3" action="ppaction://hlinksldjump"/>
            <a:extLst>
              <a:ext uri="{FF2B5EF4-FFF2-40B4-BE49-F238E27FC236}">
                <a16:creationId xmlns:a16="http://schemas.microsoft.com/office/drawing/2014/main" id="{765FB859-6516-4760-C8BA-6521B6FC9761}"/>
              </a:ext>
            </a:extLst>
          </p:cNvPr>
          <p:cNvSpPr/>
          <p:nvPr/>
        </p:nvSpPr>
        <p:spPr>
          <a:xfrm>
            <a:off x="472424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93307-BECA-F903-31CD-F3ACD423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CB2C1-4414-8679-7AF1-C69A65FCEF40}"/>
              </a:ext>
            </a:extLst>
          </p:cNvPr>
          <p:cNvSpPr/>
          <p:nvPr/>
        </p:nvSpPr>
        <p:spPr>
          <a:xfrm>
            <a:off x="-49952" y="0"/>
            <a:ext cx="12241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CF2372B-C2EB-8046-9B4E-9F1F2C141868}"/>
              </a:ext>
            </a:extLst>
          </p:cNvPr>
          <p:cNvSpPr/>
          <p:nvPr/>
        </p:nvSpPr>
        <p:spPr>
          <a:xfrm>
            <a:off x="914400" y="731520"/>
            <a:ext cx="1371600" cy="36576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rPr lang="de-DE" dirty="0"/>
              <a:t>POTENTIALS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506B6-0D8A-B231-9918-1EA888F5930A}"/>
              </a:ext>
            </a:extLst>
          </p:cNvPr>
          <p:cNvSpPr txBox="1"/>
          <p:nvPr/>
        </p:nvSpPr>
        <p:spPr>
          <a:xfrm>
            <a:off x="731519" y="1188720"/>
            <a:ext cx="83912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rPr lang="en-US" sz="3200" noProof="1"/>
              <a:t>Next Steps</a:t>
            </a:r>
          </a:p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endParaRPr lang="en-US" sz="1600" noProof="1"/>
          </a:p>
          <a:p>
            <a:r>
              <a:rPr lang="en-US" sz="1400" noProof="1"/>
              <a:t>We are expecting more to come…</a:t>
            </a:r>
            <a:endParaRPr lang="en-GB" sz="14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C51ADC8-E385-0753-47B8-3974EAAE4671}"/>
              </a:ext>
            </a:extLst>
          </p:cNvPr>
          <p:cNvSpPr/>
          <p:nvPr/>
        </p:nvSpPr>
        <p:spPr>
          <a:xfrm>
            <a:off x="914400" y="2743200"/>
            <a:ext cx="3200400" cy="238011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4BE08DC-8FCF-9496-D478-A0CDC4D64D5D}"/>
              </a:ext>
            </a:extLst>
          </p:cNvPr>
          <p:cNvSpPr/>
          <p:nvPr/>
        </p:nvSpPr>
        <p:spPr>
          <a:xfrm>
            <a:off x="4389120" y="2743199"/>
            <a:ext cx="3200400" cy="2380117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3577BC0-5285-C7EF-2410-D81DD6D4542B}"/>
              </a:ext>
            </a:extLst>
          </p:cNvPr>
          <p:cNvSpPr/>
          <p:nvPr/>
        </p:nvSpPr>
        <p:spPr>
          <a:xfrm>
            <a:off x="7863840" y="2743200"/>
            <a:ext cx="3200400" cy="238011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hlinkClick r:id="rId3" action="ppaction://hlinksldjump"/>
            <a:extLst>
              <a:ext uri="{FF2B5EF4-FFF2-40B4-BE49-F238E27FC236}">
                <a16:creationId xmlns:a16="http://schemas.microsoft.com/office/drawing/2014/main" id="{E37FEA9D-BFB5-E57C-B9E1-CCCC3F859DD3}"/>
              </a:ext>
            </a:extLst>
          </p:cNvPr>
          <p:cNvSpPr/>
          <p:nvPr/>
        </p:nvSpPr>
        <p:spPr>
          <a:xfrm>
            <a:off x="4880036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hlinkClick r:id="rId4" action="ppaction://hlinksldjump"/>
            <a:extLst>
              <a:ext uri="{FF2B5EF4-FFF2-40B4-BE49-F238E27FC236}">
                <a16:creationId xmlns:a16="http://schemas.microsoft.com/office/drawing/2014/main" id="{717272A6-ECE9-8897-720C-C3EBE0044582}"/>
              </a:ext>
            </a:extLst>
          </p:cNvPr>
          <p:cNvSpPr/>
          <p:nvPr/>
        </p:nvSpPr>
        <p:spPr>
          <a:xfrm>
            <a:off x="5154356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hlinkClick r:id="rId5" action="ppaction://hlinksldjump"/>
            <a:extLst>
              <a:ext uri="{FF2B5EF4-FFF2-40B4-BE49-F238E27FC236}">
                <a16:creationId xmlns:a16="http://schemas.microsoft.com/office/drawing/2014/main" id="{CC786601-47E8-EBD7-2AEC-069358B189D6}"/>
              </a:ext>
            </a:extLst>
          </p:cNvPr>
          <p:cNvSpPr/>
          <p:nvPr/>
        </p:nvSpPr>
        <p:spPr>
          <a:xfrm>
            <a:off x="5428676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hlinkClick r:id="rId6" action="ppaction://hlinksldjump"/>
            <a:extLst>
              <a:ext uri="{FF2B5EF4-FFF2-40B4-BE49-F238E27FC236}">
                <a16:creationId xmlns:a16="http://schemas.microsoft.com/office/drawing/2014/main" id="{9F7EBF46-B448-B266-7010-5A67AA4AA2FF}"/>
              </a:ext>
            </a:extLst>
          </p:cNvPr>
          <p:cNvSpPr/>
          <p:nvPr/>
        </p:nvSpPr>
        <p:spPr>
          <a:xfrm>
            <a:off x="5702996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hlinkClick r:id="rId7" action="ppaction://hlinksldjump"/>
            <a:extLst>
              <a:ext uri="{FF2B5EF4-FFF2-40B4-BE49-F238E27FC236}">
                <a16:creationId xmlns:a16="http://schemas.microsoft.com/office/drawing/2014/main" id="{A6B2FE59-A1C1-E33A-7A28-40D1F51B8137}"/>
              </a:ext>
            </a:extLst>
          </p:cNvPr>
          <p:cNvSpPr/>
          <p:nvPr/>
        </p:nvSpPr>
        <p:spPr>
          <a:xfrm>
            <a:off x="5977316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>
            <a:hlinkClick r:id="rId8" action="ppaction://hlinksldjump"/>
            <a:extLst>
              <a:ext uri="{FF2B5EF4-FFF2-40B4-BE49-F238E27FC236}">
                <a16:creationId xmlns:a16="http://schemas.microsoft.com/office/drawing/2014/main" id="{739106EB-51A8-E645-21DC-9E608CA77766}"/>
              </a:ext>
            </a:extLst>
          </p:cNvPr>
          <p:cNvSpPr/>
          <p:nvPr/>
        </p:nvSpPr>
        <p:spPr>
          <a:xfrm>
            <a:off x="6251636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hlinkClick r:id="rId9" action="ppaction://hlinksldjump"/>
            <a:extLst>
              <a:ext uri="{FF2B5EF4-FFF2-40B4-BE49-F238E27FC236}">
                <a16:creationId xmlns:a16="http://schemas.microsoft.com/office/drawing/2014/main" id="{F9EF354E-2A4F-DFD2-686A-A31299500354}"/>
              </a:ext>
            </a:extLst>
          </p:cNvPr>
          <p:cNvSpPr/>
          <p:nvPr/>
        </p:nvSpPr>
        <p:spPr>
          <a:xfrm>
            <a:off x="6800276" y="6400800"/>
            <a:ext cx="137160" cy="1371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hlinkClick r:id="rId10" action="ppaction://hlinksldjump"/>
            <a:extLst>
              <a:ext uri="{FF2B5EF4-FFF2-40B4-BE49-F238E27FC236}">
                <a16:creationId xmlns:a16="http://schemas.microsoft.com/office/drawing/2014/main" id="{3C56D01D-EE15-F2A5-169E-7A62215A06D1}"/>
              </a:ext>
            </a:extLst>
          </p:cNvPr>
          <p:cNvSpPr/>
          <p:nvPr/>
        </p:nvSpPr>
        <p:spPr>
          <a:xfrm>
            <a:off x="6525956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hlinkClick r:id="rId10" action="ppaction://hlinksldjump"/>
            <a:extLst>
              <a:ext uri="{FF2B5EF4-FFF2-40B4-BE49-F238E27FC236}">
                <a16:creationId xmlns:a16="http://schemas.microsoft.com/office/drawing/2014/main" id="{A8B19990-8442-DED7-E147-4C2553F050EA}"/>
              </a:ext>
            </a:extLst>
          </p:cNvPr>
          <p:cNvSpPr/>
          <p:nvPr/>
        </p:nvSpPr>
        <p:spPr>
          <a:xfrm>
            <a:off x="7074596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45939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-16375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F172A"/>
                </a:solidFill>
                <a:latin typeface="Georgia"/>
              </a:defRPr>
            </a:pPr>
            <a:r>
              <a:t>Data, Delivered.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55425"/>
            <a:ext cx="85340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05050"/>
                </a:solidFill>
                <a:latin typeface="Arial"/>
              </a:defRPr>
            </a:pPr>
            <a:endParaRPr lang="de-DE" dirty="0"/>
          </a:p>
          <a:p>
            <a:pPr algn="ctr">
              <a:defRPr sz="2000" b="0">
                <a:solidFill>
                  <a:srgbClr val="505050"/>
                </a:solidFill>
                <a:latin typeface="Arial"/>
              </a:defRPr>
            </a:pPr>
            <a:r>
              <a:rPr dirty="0"/>
              <a:t>Transforming unused vendor data into actionable insights for the public.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3940" y="4114800"/>
            <a:ext cx="203806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rPr sz="1000" dirty="0">
                <a:solidFill>
                  <a:srgbClr val="00B050"/>
                </a:solidFill>
              </a:rPr>
              <a:t>FULLY AUTOMATED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16010" y="4114800"/>
            <a:ext cx="203806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rPr lang="de-DE" sz="1000" dirty="0">
                <a:solidFill>
                  <a:srgbClr val="00B050"/>
                </a:solidFill>
              </a:rPr>
              <a:t>       </a:t>
            </a:r>
            <a:r>
              <a:rPr sz="1000" dirty="0">
                <a:solidFill>
                  <a:srgbClr val="00B050"/>
                </a:solidFill>
              </a:rPr>
              <a:t>BERLIN OPEN DATA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0" y="4114800"/>
            <a:ext cx="203806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rPr lang="de-DE" dirty="0">
                <a:solidFill>
                  <a:srgbClr val="00B050"/>
                </a:solidFill>
              </a:rPr>
              <a:t>     </a:t>
            </a:r>
            <a:r>
              <a:rPr dirty="0">
                <a:solidFill>
                  <a:srgbClr val="00B050"/>
                </a:solidFill>
              </a:rPr>
              <a:t>MULTI-DISTRICT READY</a:t>
            </a:r>
          </a:p>
        </p:txBody>
      </p:sp>
      <p:sp>
        <p:nvSpPr>
          <p:cNvPr id="8" name="Oval 7">
            <a:hlinkClick r:id="rId3" action="ppaction://hlinksldjump"/>
          </p:cNvPr>
          <p:cNvSpPr/>
          <p:nvPr/>
        </p:nvSpPr>
        <p:spPr>
          <a:xfrm>
            <a:off x="499856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hlinkClick r:id="rId4" action="ppaction://hlinksldjump"/>
          </p:cNvPr>
          <p:cNvSpPr/>
          <p:nvPr/>
        </p:nvSpPr>
        <p:spPr>
          <a:xfrm>
            <a:off x="527288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hlinkClick r:id="rId5" action="ppaction://hlinksldjump"/>
          </p:cNvPr>
          <p:cNvSpPr/>
          <p:nvPr/>
        </p:nvSpPr>
        <p:spPr>
          <a:xfrm>
            <a:off x="554720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hlinkClick r:id="rId6" action="ppaction://hlinksldjump"/>
          </p:cNvPr>
          <p:cNvSpPr/>
          <p:nvPr/>
        </p:nvSpPr>
        <p:spPr>
          <a:xfrm>
            <a:off x="582152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hlinkClick r:id="rId7" action="ppaction://hlinksldjump"/>
          </p:cNvPr>
          <p:cNvSpPr/>
          <p:nvPr/>
        </p:nvSpPr>
        <p:spPr>
          <a:xfrm>
            <a:off x="609584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hlinkClick r:id="rId8" action="ppaction://hlinksldjump"/>
          </p:cNvPr>
          <p:cNvSpPr/>
          <p:nvPr/>
        </p:nvSpPr>
        <p:spPr>
          <a:xfrm>
            <a:off x="637016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hlinkClick r:id="rId9" action="ppaction://hlinksldjump"/>
          </p:cNvPr>
          <p:cNvSpPr/>
          <p:nvPr/>
        </p:nvSpPr>
        <p:spPr>
          <a:xfrm>
            <a:off x="664448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hlinkClick r:id="rId10" action="ppaction://hlinksldjump"/>
          </p:cNvPr>
          <p:cNvSpPr/>
          <p:nvPr/>
        </p:nvSpPr>
        <p:spPr>
          <a:xfrm>
            <a:off x="6918807" y="6400800"/>
            <a:ext cx="137160" cy="1371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A cartoon rocket with fire coming out of it&#10;&#10;AI-generated content may be incorrect.">
            <a:extLst>
              <a:ext uri="{FF2B5EF4-FFF2-40B4-BE49-F238E27FC236}">
                <a16:creationId xmlns:a16="http://schemas.microsoft.com/office/drawing/2014/main" id="{92469EA9-F55E-31A7-881A-B054BDDE3A4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35727" y="1172210"/>
            <a:ext cx="1155700" cy="1130300"/>
          </a:xfrm>
          <a:prstGeom prst="rect">
            <a:avLst/>
          </a:prstGeom>
        </p:spPr>
      </p:pic>
      <p:pic>
        <p:nvPicPr>
          <p:cNvPr id="19" name="Picture 18" descr="A green square with a white tick&#10;&#10;AI-generated content may be incorrect.">
            <a:extLst>
              <a:ext uri="{FF2B5EF4-FFF2-40B4-BE49-F238E27FC236}">
                <a16:creationId xmlns:a16="http://schemas.microsoft.com/office/drawing/2014/main" id="{B4F5677B-0FF3-D9EF-ABEE-057DA5D7627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48650" y="4191567"/>
            <a:ext cx="216470" cy="212225"/>
          </a:xfrm>
          <a:prstGeom prst="rect">
            <a:avLst/>
          </a:prstGeom>
        </p:spPr>
      </p:pic>
      <p:pic>
        <p:nvPicPr>
          <p:cNvPr id="22" name="Picture 21" descr="A green square with a white tick&#10;&#10;AI-generated content may be incorrect.">
            <a:extLst>
              <a:ext uri="{FF2B5EF4-FFF2-40B4-BE49-F238E27FC236}">
                <a16:creationId xmlns:a16="http://schemas.microsoft.com/office/drawing/2014/main" id="{F21A7A24-0D96-7E61-34D6-A270DB56A7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35727" y="4191566"/>
            <a:ext cx="216470" cy="212225"/>
          </a:xfrm>
          <a:prstGeom prst="rect">
            <a:avLst/>
          </a:prstGeom>
        </p:spPr>
      </p:pic>
      <p:pic>
        <p:nvPicPr>
          <p:cNvPr id="23" name="Picture 22" descr="A green square with a white tick&#10;&#10;AI-generated content may be incorrect.">
            <a:extLst>
              <a:ext uri="{FF2B5EF4-FFF2-40B4-BE49-F238E27FC236}">
                <a16:creationId xmlns:a16="http://schemas.microsoft.com/office/drawing/2014/main" id="{2A93BB76-E46A-990B-C900-9EC1EE65B04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14539" y="4191566"/>
            <a:ext cx="216470" cy="212225"/>
          </a:xfrm>
          <a:prstGeom prst="rect">
            <a:avLst/>
          </a:prstGeom>
        </p:spPr>
      </p:pic>
      <p:sp>
        <p:nvSpPr>
          <p:cNvPr id="16" name="Oval 15">
            <a:hlinkClick r:id="rId3" action="ppaction://hlinksldjump"/>
            <a:extLst>
              <a:ext uri="{FF2B5EF4-FFF2-40B4-BE49-F238E27FC236}">
                <a16:creationId xmlns:a16="http://schemas.microsoft.com/office/drawing/2014/main" id="{0BBAD799-870F-5CA1-39E4-BD1634C5352E}"/>
              </a:ext>
            </a:extLst>
          </p:cNvPr>
          <p:cNvSpPr/>
          <p:nvPr/>
        </p:nvSpPr>
        <p:spPr>
          <a:xfrm>
            <a:off x="4724247" y="6400800"/>
            <a:ext cx="137160" cy="137160"/>
          </a:xfrm>
          <a:prstGeom prst="ellipse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625</Words>
  <Application>Microsoft Macintosh PowerPoint</Application>
  <PresentationFormat>Widescreen</PresentationFormat>
  <Paragraphs>89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Dongming Jiang</cp:lastModifiedBy>
  <cp:revision>16</cp:revision>
  <dcterms:created xsi:type="dcterms:W3CDTF">2013-01-27T09:14:16Z</dcterms:created>
  <dcterms:modified xsi:type="dcterms:W3CDTF">2026-04-22T20:19:11Z</dcterms:modified>
  <cp:category/>
</cp:coreProperties>
</file>