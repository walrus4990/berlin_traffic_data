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jpeg" ContentType="image/jpe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49" r:id="rId3"/>
    <p:sldMasterId id="2147483650" r:id="rId4"/>
    <p:sldMasterId id="2147483651" r:id="rId5"/>
    <p:sldMasterId id="2147483652" r:id="rId6"/>
    <p:sldMasterId id="2147483653" r:id="rId7"/>
    <p:sldMasterId id="2147483654" r:id="rId8"/>
    <p:sldMasterId id="2147483655" r:id="rId9"/>
    <p:sldMasterId id="2147483656" r:id="rId10"/>
    <p:sldMasterId id="2147483659" r:id="rId11"/>
    <p:sldMasterId id="2147483660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773DB5D-8B77-4560-B331-4B6D9A4AB61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DE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48B02FD-E673-40CD-A3E9-B76593AC895B}" type="slidenum">
              <a:rPr b="0" lang="en-DE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DE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2E8ADC2-B2AF-4C43-A8BD-481919828462}" type="slidenum">
              <a:rPr b="0" lang="en-DE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DE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8B6AC8E-F446-4DBE-A4E2-5AE2DBDD1B17}" type="slidenum">
              <a:rPr b="0" lang="en-DE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DE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F93505E-AF3B-4061-946B-7A81B815EE6F}" type="slidenum">
              <a:rPr b="0" lang="en-DE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DE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1896EBF-82C8-48FE-A5CC-846912017BCB}" type="slidenum">
              <a:rPr b="0" lang="en-DE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DE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6EDE8E5-DC65-4255-A7E4-D1850988C92C}" type="slidenum">
              <a:rPr b="0" lang="en-DE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DE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26A06B8-4F67-40EF-B996-903245A2EA92}" type="slidenum">
              <a:rPr b="0" lang="en-DE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DE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9AFC404-B5FB-4202-9869-89794A053DAB}" type="slidenum">
              <a:rPr b="0" lang="en-DE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DE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583B210-3CA1-400F-BC3B-C6FC0BB0132E}" type="slidenum">
              <a:rPr b="0" lang="en-DE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741BDA1-04BF-4D4C-8CB1-0089212BA1B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5F32E03-8B22-4220-95D9-D705D46988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C172A9F-E261-429F-A510-032294E7397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AB723FA-4377-4B20-B263-09565E03D35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AFD7ACA-D3E0-41EF-B6ED-E271BB4E8EF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77AC21-F2C7-431B-85D1-E3BC495CB68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BDB9801-FCA1-417F-9924-8395D13E177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FACB168-AC8B-400A-9A04-A2AFD5070CF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EE4E7A2-2174-4BB2-B5F2-A46E44DFB86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2E09BB8-ED95-404E-AA7B-545CDDCFED6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61B506A-A81E-4DC1-82B5-A4437DCD480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  <p:sldLayoutId id="2147483658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E764C53-0F52-4820-A1E4-49CE1222460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D06FEAF-7882-41FB-A66B-F69F9FF9A2B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5.xml"/><Relationship Id="rId6" Type="http://schemas.openxmlformats.org/officeDocument/2006/relationships/slide" Target="slide9.xml"/><Relationship Id="rId7" Type="http://schemas.openxmlformats.org/officeDocument/2006/relationships/slide" Target="slide9.xml"/><Relationship Id="rId8" Type="http://schemas.openxmlformats.org/officeDocument/2006/relationships/image" Target="../media/image1.png"/><Relationship Id="rId9" Type="http://schemas.openxmlformats.org/officeDocument/2006/relationships/slide" Target="slide9.xml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5.xml"/><Relationship Id="rId6" Type="http://schemas.openxmlformats.org/officeDocument/2006/relationships/slide" Target="slide9.xml"/><Relationship Id="rId7" Type="http://schemas.openxmlformats.org/officeDocument/2006/relationships/slide" Target="slide9.xml"/><Relationship Id="rId8" Type="http://schemas.openxmlformats.org/officeDocument/2006/relationships/slide" Target="slide9.xml"/><Relationship Id="rId9" Type="http://schemas.openxmlformats.org/officeDocument/2006/relationships/image" Target="../media/image2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5.xml"/><Relationship Id="rId6" Type="http://schemas.openxmlformats.org/officeDocument/2006/relationships/slide" Target="slide9.xml"/><Relationship Id="rId7" Type="http://schemas.openxmlformats.org/officeDocument/2006/relationships/slide" Target="slide9.xml"/><Relationship Id="rId8" Type="http://schemas.openxmlformats.org/officeDocument/2006/relationships/slide" Target="slide9.xml"/><Relationship Id="rId9" Type="http://schemas.openxmlformats.org/officeDocument/2006/relationships/image" Target="../media/image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5.xml"/><Relationship Id="rId6" Type="http://schemas.openxmlformats.org/officeDocument/2006/relationships/slide" Target="slide9.xml"/><Relationship Id="rId7" Type="http://schemas.openxmlformats.org/officeDocument/2006/relationships/slide" Target="slide9.xml"/><Relationship Id="rId8" Type="http://schemas.openxmlformats.org/officeDocument/2006/relationships/slide" Target="slide9.xm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8.xml"/><Relationship Id="rId9" Type="http://schemas.openxmlformats.org/officeDocument/2006/relationships/slide" Target=""/><Relationship Id="rId10" Type="http://schemas.openxmlformats.org/officeDocument/2006/relationships/slide" Target="slide1.xm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9.xml"/><Relationship Id="rId7" Type="http://schemas.openxmlformats.org/officeDocument/2006/relationships/slide" Target=""/><Relationship Id="rId8" Type="http://schemas.openxmlformats.org/officeDocument/2006/relationships/slide" Target=""/><Relationship Id="rId9" Type="http://schemas.openxmlformats.org/officeDocument/2006/relationships/slide" Target="slide1.xm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9.xml"/><Relationship Id="rId8" Type="http://schemas.openxmlformats.org/officeDocument/2006/relationships/slide" Target=""/><Relationship Id="rId9" Type="http://schemas.openxmlformats.org/officeDocument/2006/relationships/slide" Target="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5.xml"/><Relationship Id="rId6" Type="http://schemas.openxmlformats.org/officeDocument/2006/relationships/slide" Target="slide9.xml"/><Relationship Id="rId7" Type="http://schemas.openxmlformats.org/officeDocument/2006/relationships/slide" Target="slide9.xml"/><Relationship Id="rId8" Type="http://schemas.openxmlformats.org/officeDocument/2006/relationships/image" Target="../media/image5.png"/><Relationship Id="rId9" Type="http://schemas.openxmlformats.org/officeDocument/2006/relationships/image" Target="../media/image6.png"/><Relationship Id="rId10" Type="http://schemas.openxmlformats.org/officeDocument/2006/relationships/image" Target="../media/image6.png"/><Relationship Id="rId11" Type="http://schemas.openxmlformats.org/officeDocument/2006/relationships/image" Target="../media/image6.png"/><Relationship Id="rId12" Type="http://schemas.openxmlformats.org/officeDocument/2006/relationships/slide" Target="slide1.xml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-6120" y="-27720"/>
            <a:ext cx="12191400" cy="6857640"/>
          </a:xfrm>
          <a:prstGeom prst="rect">
            <a:avLst/>
          </a:prstGeom>
          <a:solidFill>
            <a:srgbClr val="f8faf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1456200" y="2641680"/>
            <a:ext cx="926748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800" spc="-1" strike="noStrike">
                <a:solidFill>
                  <a:srgbClr val="0f172a"/>
                </a:solidFill>
                <a:latin typeface="Georgia"/>
              </a:rPr>
              <a:t>Berlin Traffic Data Pipeline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1822680" y="3711960"/>
            <a:ext cx="85338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505050"/>
                </a:solidFill>
                <a:latin typeface="Georgia"/>
              </a:rPr>
              <a:t>From </a:t>
            </a:r>
            <a:r>
              <a:rPr b="0" lang="en-US" sz="2400" spc="-1" strike="noStrike">
                <a:solidFill>
                  <a:srgbClr val="505050"/>
                </a:solidFill>
                <a:latin typeface="Georgia"/>
              </a:rPr>
              <a:t>siloed </a:t>
            </a:r>
            <a:r>
              <a:rPr b="0" lang="en-US" sz="2400" spc="-1" strike="noStrike">
                <a:solidFill>
                  <a:srgbClr val="505050"/>
                </a:solidFill>
                <a:latin typeface="Georgia"/>
              </a:rPr>
              <a:t>mobile </a:t>
            </a:r>
            <a:r>
              <a:rPr b="0" lang="en-US" sz="2400" spc="-1" strike="noStrike">
                <a:solidFill>
                  <a:srgbClr val="505050"/>
                </a:solidFill>
                <a:latin typeface="Georgia"/>
              </a:rPr>
              <a:t>sensors </a:t>
            </a:r>
            <a:r>
              <a:rPr b="0" lang="en-US" sz="2400" spc="-1" strike="noStrike">
                <a:solidFill>
                  <a:srgbClr val="505050"/>
                </a:solidFill>
                <a:latin typeface="Georgia"/>
              </a:rPr>
              <a:t>to </a:t>
            </a:r>
            <a:r>
              <a:rPr b="0" lang="en-US" sz="2400" spc="-1" strike="noStrike">
                <a:solidFill>
                  <a:srgbClr val="505050"/>
                </a:solidFill>
                <a:latin typeface="Georgia"/>
              </a:rPr>
              <a:t>public </a:t>
            </a:r>
            <a:r>
              <a:rPr b="0" lang="en-US" sz="2400" spc="-1" strike="noStrike">
                <a:solidFill>
                  <a:srgbClr val="505050"/>
                </a:solidFill>
                <a:latin typeface="Georgia"/>
              </a:rPr>
              <a:t>dashbo</a:t>
            </a:r>
            <a:r>
              <a:rPr b="0" lang="en-US" sz="2400" spc="-1" strike="noStrike">
                <a:solidFill>
                  <a:srgbClr val="505050"/>
                </a:solidFill>
                <a:latin typeface="Georgia"/>
              </a:rPr>
              <a:t>ards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DE" sz="1200" spc="-1" strike="noStrike">
                <a:solidFill>
                  <a:srgbClr val="505050"/>
                </a:solidFill>
                <a:latin typeface="Georgia"/>
              </a:rPr>
              <a:t>#Batch </a:t>
            </a:r>
            <a:r>
              <a:rPr b="0" lang="en-GB" sz="1200" spc="-1" strike="noStrike">
                <a:solidFill>
                  <a:srgbClr val="505050"/>
                </a:solidFill>
                <a:latin typeface="Georgia"/>
              </a:rPr>
              <a:t>batch-</a:t>
            </a:r>
            <a:r>
              <a:rPr b="0" lang="en-GB" sz="1200" spc="-1" strike="noStrike">
                <a:solidFill>
                  <a:srgbClr val="505050"/>
                </a:solidFill>
                <a:latin typeface="Georgia"/>
              </a:rPr>
              <a:t>2189 - </a:t>
            </a:r>
            <a:r>
              <a:rPr b="0" lang="en-DE" sz="1200" spc="-1" strike="noStrike">
                <a:solidFill>
                  <a:srgbClr val="505050"/>
                </a:solidFill>
                <a:latin typeface="Georgia"/>
              </a:rPr>
              <a:t>Team: </a:t>
            </a:r>
            <a:r>
              <a:rPr b="0" lang="en-GB" sz="1200" spc="-1" strike="noStrike">
                <a:solidFill>
                  <a:srgbClr val="505050"/>
                </a:solidFill>
                <a:latin typeface="Georgia"/>
              </a:rPr>
              <a:t>Karin Schmitt, </a:t>
            </a:r>
            <a:r>
              <a:rPr b="0" lang="en-GB" sz="1200" spc="-1" strike="noStrike">
                <a:solidFill>
                  <a:srgbClr val="505050"/>
                </a:solidFill>
                <a:latin typeface="Georgia"/>
              </a:rPr>
              <a:t>Dongming </a:t>
            </a:r>
            <a:r>
              <a:rPr b="0" lang="en-GB" sz="1200" spc="-1" strike="noStrike">
                <a:solidFill>
                  <a:srgbClr val="505050"/>
                </a:solidFill>
                <a:latin typeface="Georgia"/>
              </a:rPr>
              <a:t>Monica Jiang, </a:t>
            </a:r>
            <a:r>
              <a:rPr b="0" lang="en-GB" sz="1200" spc="-1" strike="noStrike">
                <a:solidFill>
                  <a:srgbClr val="505050"/>
                </a:solidFill>
                <a:latin typeface="Georgia"/>
              </a:rPr>
              <a:t>Lucia Fontana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Oval 5">
            <a:hlinkClick r:id="rId1" action="ppaction://hlinksldjump"/>
          </p:cNvPr>
          <p:cNvSpPr/>
          <p:nvPr/>
        </p:nvSpPr>
        <p:spPr>
          <a:xfrm>
            <a:off x="4998600" y="6454080"/>
            <a:ext cx="136800" cy="136800"/>
          </a:xfrm>
          <a:prstGeom prst="ellipse">
            <a:avLst/>
          </a:prstGeom>
          <a:solidFill>
            <a:srgbClr val="2563eb"/>
          </a:solidFill>
          <a:ln w="9360">
            <a:solidFill>
              <a:srgbClr val="2563e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Oval 6">
            <a:hlinkClick r:id="rId2" action="ppaction://hlinksldjump"/>
          </p:cNvPr>
          <p:cNvSpPr/>
          <p:nvPr/>
        </p:nvSpPr>
        <p:spPr>
          <a:xfrm>
            <a:off x="5272920" y="645408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Oval 7">
            <a:hlinkClick r:id="rId3" action="ppaction://hlinksldjump"/>
          </p:cNvPr>
          <p:cNvSpPr/>
          <p:nvPr/>
        </p:nvSpPr>
        <p:spPr>
          <a:xfrm>
            <a:off x="5547240" y="645408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Oval 8">
            <a:hlinkClick r:id="rId4" action="ppaction://hlinksldjump"/>
          </p:cNvPr>
          <p:cNvSpPr/>
          <p:nvPr/>
        </p:nvSpPr>
        <p:spPr>
          <a:xfrm>
            <a:off x="5821560" y="645408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Oval 9">
            <a:hlinkClick r:id="rId5" action="ppaction://hlinksldjump"/>
          </p:cNvPr>
          <p:cNvSpPr/>
          <p:nvPr/>
        </p:nvSpPr>
        <p:spPr>
          <a:xfrm>
            <a:off x="6095880" y="645408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Oval 10">
            <a:hlinkClick r:id="rId6" action="ppaction://hlinksldjump"/>
          </p:cNvPr>
          <p:cNvSpPr/>
          <p:nvPr/>
        </p:nvSpPr>
        <p:spPr>
          <a:xfrm>
            <a:off x="6370200" y="645408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Oval 11"/>
          <p:cNvSpPr/>
          <p:nvPr/>
        </p:nvSpPr>
        <p:spPr>
          <a:xfrm>
            <a:off x="6644520" y="645408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Oval 12">
            <a:hlinkClick r:id="rId7" action="ppaction://hlinksldjump"/>
          </p:cNvPr>
          <p:cNvSpPr/>
          <p:nvPr/>
        </p:nvSpPr>
        <p:spPr>
          <a:xfrm>
            <a:off x="6918840" y="645408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8" name="Picture 13" descr=""/>
          <p:cNvPicPr/>
          <p:nvPr/>
        </p:nvPicPr>
        <p:blipFill>
          <a:blip r:embed="rId8"/>
          <a:stretch/>
        </p:blipFill>
        <p:spPr>
          <a:xfrm>
            <a:off x="4244760" y="1180800"/>
            <a:ext cx="3427560" cy="1460520"/>
          </a:xfrm>
          <a:prstGeom prst="rect">
            <a:avLst/>
          </a:prstGeom>
          <a:ln w="0">
            <a:noFill/>
          </a:ln>
        </p:spPr>
      </p:pic>
      <p:sp>
        <p:nvSpPr>
          <p:cNvPr id="79" name="Oval 4">
            <a:hlinkClick r:id="rId9" action="ppaction://hlinksldjump"/>
          </p:cNvPr>
          <p:cNvSpPr/>
          <p:nvPr/>
        </p:nvSpPr>
        <p:spPr>
          <a:xfrm>
            <a:off x="7193160" y="645408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5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Rounded Rectangle 2"/>
          <p:cNvSpPr/>
          <p:nvPr/>
        </p:nvSpPr>
        <p:spPr>
          <a:xfrm>
            <a:off x="914400" y="731520"/>
            <a:ext cx="1371240" cy="365400"/>
          </a:xfrm>
          <a:prstGeom prst="roundRect">
            <a:avLst>
              <a:gd name="adj" fmla="val 16667"/>
            </a:avLst>
          </a:prstGeom>
          <a:solidFill>
            <a:srgbClr val="e0e7ff"/>
          </a:solidFill>
          <a:ln w="9360">
            <a:solidFill>
              <a:srgbClr val="e0e7f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563eb"/>
                </a:solidFill>
                <a:latin typeface="Arial"/>
              </a:rPr>
              <a:t>THE CHALLENGE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3"/>
          <p:cNvSpPr/>
          <p:nvPr/>
        </p:nvSpPr>
        <p:spPr>
          <a:xfrm>
            <a:off x="731520" y="1188720"/>
            <a:ext cx="73148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Georgia"/>
              </a:rPr>
              <a:t>Unlocking Sensor Data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Rounded Rectangle 4"/>
          <p:cNvSpPr/>
          <p:nvPr/>
        </p:nvSpPr>
        <p:spPr>
          <a:xfrm>
            <a:off x="6712920" y="2857680"/>
            <a:ext cx="4571640" cy="2202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505050"/>
                </a:solidFill>
                <a:latin typeface="Arial"/>
              </a:rPr>
              <a:t>The Problem</a:t>
            </a:r>
            <a:br>
              <a:rPr sz="1200"/>
            </a:br>
            <a:br>
              <a:rPr sz="1200"/>
            </a:br>
            <a:r>
              <a:rPr b="0" lang="en-US" sz="1200" spc="-1" strike="noStrike">
                <a:solidFill>
                  <a:srgbClr val="505050"/>
                </a:solidFill>
                <a:latin typeface="Arial"/>
              </a:rPr>
              <a:t>• 28-41 mobile traffic sensors (counts, speed, vehicle type)</a:t>
            </a:r>
            <a:br>
              <a:rPr sz="1200"/>
            </a:br>
            <a:br>
              <a:rPr sz="1200"/>
            </a:br>
            <a:r>
              <a:rPr b="0" lang="en-US" sz="1200" spc="-1" strike="noStrike">
                <a:solidFill>
                  <a:srgbClr val="505050"/>
                </a:solidFill>
                <a:latin typeface="Arial"/>
              </a:rPr>
              <a:t>• Data locked in vendor web portal (DDWeb) requiring manual downloads</a:t>
            </a:r>
            <a:br>
              <a:rPr sz="1200"/>
            </a:br>
            <a:br>
              <a:rPr sz="1200"/>
            </a:br>
            <a:r>
              <a:rPr b="0" lang="en-US" sz="1200" spc="-1" strike="noStrike">
                <a:solidFill>
                  <a:srgbClr val="505050"/>
                </a:solidFill>
                <a:latin typeface="Arial"/>
              </a:rPr>
              <a:t>• Disconnected georeferencing table tracking moving sensors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Oval 7">
            <a:hlinkClick r:id="rId1" action="ppaction://hlinksldjump"/>
          </p:cNvPr>
          <p:cNvSpPr/>
          <p:nvPr/>
        </p:nvSpPr>
        <p:spPr>
          <a:xfrm>
            <a:off x="4998600" y="645408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Oval 8">
            <a:hlinkClick r:id="rId2" action="ppaction://hlinksldjump"/>
          </p:cNvPr>
          <p:cNvSpPr/>
          <p:nvPr/>
        </p:nvSpPr>
        <p:spPr>
          <a:xfrm>
            <a:off x="5272920" y="6454080"/>
            <a:ext cx="136800" cy="136800"/>
          </a:xfrm>
          <a:prstGeom prst="ellipse">
            <a:avLst/>
          </a:prstGeom>
          <a:solidFill>
            <a:srgbClr val="2563eb"/>
          </a:solidFill>
          <a:ln w="9360">
            <a:solidFill>
              <a:srgbClr val="2563e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Oval 9">
            <a:hlinkClick r:id="rId3" action="ppaction://hlinksldjump"/>
          </p:cNvPr>
          <p:cNvSpPr/>
          <p:nvPr/>
        </p:nvSpPr>
        <p:spPr>
          <a:xfrm>
            <a:off x="5547240" y="645408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Oval 10">
            <a:hlinkClick r:id="rId4" action="ppaction://hlinksldjump"/>
          </p:cNvPr>
          <p:cNvSpPr/>
          <p:nvPr/>
        </p:nvSpPr>
        <p:spPr>
          <a:xfrm>
            <a:off x="5821560" y="645408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Oval 11">
            <a:hlinkClick r:id="rId5" action="ppaction://hlinksldjump"/>
          </p:cNvPr>
          <p:cNvSpPr/>
          <p:nvPr/>
        </p:nvSpPr>
        <p:spPr>
          <a:xfrm>
            <a:off x="6095880" y="645408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Oval 12">
            <a:hlinkClick r:id="rId6" action="ppaction://hlinksldjump"/>
          </p:cNvPr>
          <p:cNvSpPr/>
          <p:nvPr/>
        </p:nvSpPr>
        <p:spPr>
          <a:xfrm>
            <a:off x="6370200" y="645408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Oval 13"/>
          <p:cNvSpPr/>
          <p:nvPr/>
        </p:nvSpPr>
        <p:spPr>
          <a:xfrm>
            <a:off x="6644520" y="645408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Oval 14">
            <a:hlinkClick r:id="rId7" action="ppaction://hlinksldjump"/>
          </p:cNvPr>
          <p:cNvSpPr/>
          <p:nvPr/>
        </p:nvSpPr>
        <p:spPr>
          <a:xfrm>
            <a:off x="6918840" y="645408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Oval 1">
            <a:hlinkClick r:id="rId8" action="ppaction://hlinksldjump"/>
          </p:cNvPr>
          <p:cNvSpPr/>
          <p:nvPr/>
        </p:nvSpPr>
        <p:spPr>
          <a:xfrm>
            <a:off x="7193160" y="645408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Picture 18"/>
          <p:cNvSpPr/>
          <p:nvPr/>
        </p:nvSpPr>
        <p:spPr>
          <a:xfrm>
            <a:off x="975600" y="2432160"/>
            <a:ext cx="4365720" cy="3053880"/>
          </a:xfrm>
          <a:prstGeom prst="roundRect">
            <a:avLst>
              <a:gd name="adj" fmla="val 16667"/>
            </a:avLst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ounded Rectangle 2"/>
          <p:cNvSpPr/>
          <p:nvPr/>
        </p:nvSpPr>
        <p:spPr>
          <a:xfrm>
            <a:off x="914400" y="731520"/>
            <a:ext cx="1371240" cy="365400"/>
          </a:xfrm>
          <a:prstGeom prst="roundRect">
            <a:avLst>
              <a:gd name="adj" fmla="val 16667"/>
            </a:avLst>
          </a:prstGeom>
          <a:solidFill>
            <a:srgbClr val="e0e7ff"/>
          </a:solidFill>
          <a:ln w="9360">
            <a:solidFill>
              <a:srgbClr val="e0e7f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563eb"/>
                </a:solidFill>
                <a:latin typeface="Arial"/>
              </a:rPr>
              <a:t>THE CHALLENGE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3"/>
          <p:cNvSpPr/>
          <p:nvPr/>
        </p:nvSpPr>
        <p:spPr>
          <a:xfrm>
            <a:off x="731520" y="1188720"/>
            <a:ext cx="73148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Georgia"/>
              </a:rPr>
              <a:t>Unlocking Sensor Data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Rounded Rectangle 5"/>
          <p:cNvSpPr/>
          <p:nvPr/>
        </p:nvSpPr>
        <p:spPr>
          <a:xfrm>
            <a:off x="6726960" y="2868480"/>
            <a:ext cx="4571640" cy="2202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505050"/>
                </a:solidFill>
                <a:latin typeface="Arial"/>
              </a:rPr>
              <a:t>The Goal</a:t>
            </a:r>
            <a:br>
              <a:rPr sz="1200"/>
            </a:br>
            <a:br>
              <a:rPr sz="1200"/>
            </a:br>
            <a:r>
              <a:rPr b="0" lang="en-US" sz="1200" spc="-1" strike="noStrike">
                <a:solidFill>
                  <a:srgbClr val="505050"/>
                </a:solidFill>
                <a:latin typeface="Arial"/>
              </a:rPr>
              <a:t>• Build </a:t>
            </a:r>
            <a:r>
              <a:rPr b="0" lang="de-DE" sz="1200" spc="-1" strike="noStrike">
                <a:solidFill>
                  <a:srgbClr val="505050"/>
                </a:solidFill>
                <a:latin typeface="Arial"/>
              </a:rPr>
              <a:t>an </a:t>
            </a:r>
            <a:r>
              <a:rPr b="0" lang="en-US" sz="1200" spc="-1" strike="noStrike">
                <a:solidFill>
                  <a:srgbClr val="505050"/>
                </a:solidFill>
                <a:latin typeface="Arial"/>
              </a:rPr>
              <a:t>automated pipeline for aggregated datasets &amp; public dashboard</a:t>
            </a:r>
            <a:br>
              <a:rPr sz="1200"/>
            </a:br>
            <a:br>
              <a:rPr sz="1200"/>
            </a:br>
            <a:r>
              <a:rPr b="0" lang="en-US" sz="1200" spc="-1" strike="noStrike">
                <a:solidFill>
                  <a:srgbClr val="505050"/>
                </a:solidFill>
                <a:latin typeface="Arial"/>
              </a:rPr>
              <a:t>• Provide key metrics: Modal split, V85 speed, hourly flow</a:t>
            </a:r>
            <a:br>
              <a:rPr sz="1200"/>
            </a:br>
            <a:br>
              <a:rPr sz="1200"/>
            </a:br>
            <a:r>
              <a:rPr b="0" lang="en-US" sz="1200" spc="-1" strike="noStrike">
                <a:solidFill>
                  <a:srgbClr val="505050"/>
                </a:solidFill>
                <a:latin typeface="Arial"/>
              </a:rPr>
              <a:t>• Multi-district scalable architecture (one config file = one district)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Oval 7">
            <a:hlinkClick r:id="rId1" action="ppaction://hlinksldjump"/>
          </p:cNvPr>
          <p:cNvSpPr/>
          <p:nvPr/>
        </p:nvSpPr>
        <p:spPr>
          <a:xfrm>
            <a:off x="4998600" y="645408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Oval 8">
            <a:hlinkClick r:id="rId2" action="ppaction://hlinksldjump"/>
          </p:cNvPr>
          <p:cNvSpPr/>
          <p:nvPr/>
        </p:nvSpPr>
        <p:spPr>
          <a:xfrm>
            <a:off x="5272920" y="6454080"/>
            <a:ext cx="136800" cy="136800"/>
          </a:xfrm>
          <a:prstGeom prst="ellipse">
            <a:avLst/>
          </a:prstGeom>
          <a:solidFill>
            <a:srgbClr val="2563eb"/>
          </a:solidFill>
          <a:ln w="9360">
            <a:solidFill>
              <a:srgbClr val="2563e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Oval 9">
            <a:hlinkClick r:id="rId3" action="ppaction://hlinksldjump"/>
          </p:cNvPr>
          <p:cNvSpPr/>
          <p:nvPr/>
        </p:nvSpPr>
        <p:spPr>
          <a:xfrm>
            <a:off x="5547240" y="645408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Oval 10">
            <a:hlinkClick r:id="rId4" action="ppaction://hlinksldjump"/>
          </p:cNvPr>
          <p:cNvSpPr/>
          <p:nvPr/>
        </p:nvSpPr>
        <p:spPr>
          <a:xfrm>
            <a:off x="5821560" y="645408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Oval 11">
            <a:hlinkClick r:id="rId5" action="ppaction://hlinksldjump"/>
          </p:cNvPr>
          <p:cNvSpPr/>
          <p:nvPr/>
        </p:nvSpPr>
        <p:spPr>
          <a:xfrm>
            <a:off x="6095880" y="645408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Oval 12">
            <a:hlinkClick r:id="rId6" action="ppaction://hlinksldjump"/>
          </p:cNvPr>
          <p:cNvSpPr/>
          <p:nvPr/>
        </p:nvSpPr>
        <p:spPr>
          <a:xfrm>
            <a:off x="6370200" y="645408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Oval 13"/>
          <p:cNvSpPr/>
          <p:nvPr/>
        </p:nvSpPr>
        <p:spPr>
          <a:xfrm>
            <a:off x="6644520" y="645408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Oval 14">
            <a:hlinkClick r:id="rId7" action="ppaction://hlinksldjump"/>
          </p:cNvPr>
          <p:cNvSpPr/>
          <p:nvPr/>
        </p:nvSpPr>
        <p:spPr>
          <a:xfrm>
            <a:off x="6918840" y="645408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" name="Oval 1">
            <a:hlinkClick r:id="rId8" action="ppaction://hlinksldjump"/>
          </p:cNvPr>
          <p:cNvSpPr/>
          <p:nvPr/>
        </p:nvSpPr>
        <p:spPr>
          <a:xfrm>
            <a:off x="7193160" y="645408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Picture 16"/>
          <p:cNvSpPr/>
          <p:nvPr/>
        </p:nvSpPr>
        <p:spPr>
          <a:xfrm>
            <a:off x="731520" y="2340360"/>
            <a:ext cx="4991040" cy="3259080"/>
          </a:xfrm>
          <a:prstGeom prst="roundRect">
            <a:avLst>
              <a:gd name="adj" fmla="val 16667"/>
            </a:avLst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"/>
          <p:cNvSpPr/>
          <p:nvPr/>
        </p:nvSpPr>
        <p:spPr>
          <a:xfrm>
            <a:off x="-50040" y="0"/>
            <a:ext cx="12241800" cy="6857640"/>
          </a:xfrm>
          <a:prstGeom prst="rect">
            <a:avLst/>
          </a:prstGeom>
          <a:solidFill>
            <a:srgbClr val="f8faf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Rounded Rectangle 2"/>
          <p:cNvSpPr/>
          <p:nvPr/>
        </p:nvSpPr>
        <p:spPr>
          <a:xfrm>
            <a:off x="914400" y="731520"/>
            <a:ext cx="1371240" cy="365400"/>
          </a:xfrm>
          <a:prstGeom prst="roundRect">
            <a:avLst>
              <a:gd name="adj" fmla="val 16667"/>
            </a:avLst>
          </a:prstGeom>
          <a:solidFill>
            <a:srgbClr val="e0e7ff"/>
          </a:solidFill>
          <a:ln w="9360">
            <a:solidFill>
              <a:srgbClr val="e0e7f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563eb"/>
                </a:solidFill>
                <a:latin typeface="Arial"/>
              </a:rPr>
              <a:t>ARCHITECTURE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731520" y="1188720"/>
            <a:ext cx="73148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Georgia"/>
              </a:rPr>
              <a:t>The Central City Stack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4"/>
          <p:cNvSpPr/>
          <p:nvPr/>
        </p:nvSpPr>
        <p:spPr>
          <a:xfrm>
            <a:off x="731520" y="1810080"/>
            <a:ext cx="91436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505050"/>
                </a:solidFill>
                <a:latin typeface="Arial"/>
              </a:rPr>
              <a:t>Running on the strong </a:t>
            </a:r>
            <a:r>
              <a:rPr b="1" lang="en-US" sz="1400" spc="-1" strike="noStrike">
                <a:solidFill>
                  <a:srgbClr val="505050"/>
                </a:solidFill>
                <a:latin typeface="Arial"/>
              </a:rPr>
              <a:t>CityLAB Berlin Open Data Hub </a:t>
            </a:r>
            <a:r>
              <a:rPr b="0" lang="en-US" sz="1400" spc="-1" strike="noStrike">
                <a:solidFill>
                  <a:srgbClr val="505050"/>
                </a:solidFill>
                <a:latin typeface="Arial"/>
              </a:rPr>
              <a:t>(CIVITAS/CORE stack).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Rounded Rectangle 5"/>
          <p:cNvSpPr/>
          <p:nvPr/>
        </p:nvSpPr>
        <p:spPr>
          <a:xfrm>
            <a:off x="914400" y="2926080"/>
            <a:ext cx="2377080" cy="228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Rectangle 6"/>
          <p:cNvSpPr/>
          <p:nvPr/>
        </p:nvSpPr>
        <p:spPr>
          <a:xfrm>
            <a:off x="1082160" y="2926080"/>
            <a:ext cx="2043720" cy="9108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TextBox 7"/>
          <p:cNvSpPr/>
          <p:nvPr/>
        </p:nvSpPr>
        <p:spPr>
          <a:xfrm>
            <a:off x="914400" y="3663720"/>
            <a:ext cx="23770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505050"/>
                </a:solidFill>
                <a:latin typeface="Arial"/>
              </a:rPr>
              <a:t>Airflow</a:t>
            </a:r>
            <a:br>
              <a:rPr sz="1400"/>
            </a:b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br>
              <a:rPr sz="1400"/>
            </a:br>
            <a:r>
              <a:rPr b="0" lang="en-US" sz="1200" spc="-1" strike="noStrike">
                <a:solidFill>
                  <a:srgbClr val="505050"/>
                </a:solidFill>
                <a:latin typeface="Arial"/>
              </a:rPr>
              <a:t>Orchestration and scheduling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ounded Rectangle 8"/>
          <p:cNvSpPr/>
          <p:nvPr/>
        </p:nvSpPr>
        <p:spPr>
          <a:xfrm>
            <a:off x="3520440" y="2926080"/>
            <a:ext cx="2377080" cy="228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Rectangle 9"/>
          <p:cNvSpPr/>
          <p:nvPr/>
        </p:nvSpPr>
        <p:spPr>
          <a:xfrm>
            <a:off x="3689640" y="2926080"/>
            <a:ext cx="2042280" cy="91080"/>
          </a:xfrm>
          <a:prstGeom prst="rect">
            <a:avLst/>
          </a:prstGeom>
          <a:solidFill>
            <a:srgbClr val="0891b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TextBox 10"/>
          <p:cNvSpPr/>
          <p:nvPr/>
        </p:nvSpPr>
        <p:spPr>
          <a:xfrm>
            <a:off x="3520440" y="3663720"/>
            <a:ext cx="2377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505050"/>
                </a:solidFill>
                <a:latin typeface="Arial"/>
              </a:rPr>
              <a:t>MinIO</a:t>
            </a:r>
            <a:br>
              <a:rPr sz="1400"/>
            </a:b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br>
              <a:rPr sz="1400"/>
            </a:br>
            <a:r>
              <a:rPr b="0" lang="en-US" sz="1200" spc="-1" strike="noStrike">
                <a:solidFill>
                  <a:srgbClr val="505050"/>
                </a:solidFill>
                <a:latin typeface="Arial"/>
              </a:rPr>
              <a:t>Raw data archiving &amp; final exports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Rounded Rectangle 11"/>
          <p:cNvSpPr/>
          <p:nvPr/>
        </p:nvSpPr>
        <p:spPr>
          <a:xfrm>
            <a:off x="6126480" y="2926080"/>
            <a:ext cx="2377080" cy="228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Rectangle 12"/>
          <p:cNvSpPr/>
          <p:nvPr/>
        </p:nvSpPr>
        <p:spPr>
          <a:xfrm>
            <a:off x="6294240" y="2926080"/>
            <a:ext cx="2042280" cy="91080"/>
          </a:xfrm>
          <a:prstGeom prst="rect">
            <a:avLst/>
          </a:prstGeom>
          <a:solidFill>
            <a:srgbClr val="8b5cf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TextBox 13"/>
          <p:cNvSpPr/>
          <p:nvPr/>
        </p:nvSpPr>
        <p:spPr>
          <a:xfrm>
            <a:off x="6113520" y="3663720"/>
            <a:ext cx="2377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505050"/>
                </a:solidFill>
                <a:latin typeface="Arial"/>
              </a:rPr>
              <a:t>PostgreSQL</a:t>
            </a:r>
            <a:br>
              <a:rPr sz="1400"/>
            </a:b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br>
              <a:rPr sz="1400"/>
            </a:br>
            <a:r>
              <a:rPr b="0" lang="en-US" sz="1200" spc="-1" strike="noStrike">
                <a:solidFill>
                  <a:srgbClr val="505050"/>
                </a:solidFill>
                <a:latin typeface="Arial"/>
              </a:rPr>
              <a:t>Medallion storage (Bronze, Silver, Gold)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Rounded Rectangle 14"/>
          <p:cNvSpPr/>
          <p:nvPr/>
        </p:nvSpPr>
        <p:spPr>
          <a:xfrm>
            <a:off x="8732520" y="2926080"/>
            <a:ext cx="2377080" cy="228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" name="Rectangle 15"/>
          <p:cNvSpPr/>
          <p:nvPr/>
        </p:nvSpPr>
        <p:spPr>
          <a:xfrm>
            <a:off x="8899560" y="2926080"/>
            <a:ext cx="2041200" cy="9108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TextBox 16"/>
          <p:cNvSpPr/>
          <p:nvPr/>
        </p:nvSpPr>
        <p:spPr>
          <a:xfrm>
            <a:off x="8732520" y="3663720"/>
            <a:ext cx="2377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505050"/>
                </a:solidFill>
                <a:latin typeface="Arial"/>
              </a:rPr>
              <a:t>Superset</a:t>
            </a:r>
            <a:br>
              <a:rPr sz="1400"/>
            </a:b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br>
              <a:rPr sz="1400"/>
            </a:br>
            <a:r>
              <a:rPr b="0" lang="en-US" sz="1200" spc="-1" strike="noStrike">
                <a:solidFill>
                  <a:srgbClr val="505050"/>
                </a:solidFill>
                <a:latin typeface="Arial"/>
              </a:rPr>
              <a:t>Public-facing interactive dashboard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Oval 17">
            <a:hlinkClick r:id="rId1" action="ppaction://hlinksldjump"/>
          </p:cNvPr>
          <p:cNvSpPr/>
          <p:nvPr/>
        </p:nvSpPr>
        <p:spPr>
          <a:xfrm>
            <a:off x="499860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Oval 18">
            <a:hlinkClick r:id="rId2" action="ppaction://hlinksldjump"/>
          </p:cNvPr>
          <p:cNvSpPr/>
          <p:nvPr/>
        </p:nvSpPr>
        <p:spPr>
          <a:xfrm>
            <a:off x="527292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Oval 19">
            <a:hlinkClick r:id="rId3" action="ppaction://hlinksldjump"/>
          </p:cNvPr>
          <p:cNvSpPr/>
          <p:nvPr/>
        </p:nvSpPr>
        <p:spPr>
          <a:xfrm>
            <a:off x="5547240" y="6400800"/>
            <a:ext cx="136800" cy="136800"/>
          </a:xfrm>
          <a:prstGeom prst="ellipse">
            <a:avLst/>
          </a:prstGeom>
          <a:solidFill>
            <a:srgbClr val="2563eb"/>
          </a:solidFill>
          <a:ln w="9360">
            <a:solidFill>
              <a:srgbClr val="2563e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Oval 20">
            <a:hlinkClick r:id="rId4" action="ppaction://hlinksldjump"/>
          </p:cNvPr>
          <p:cNvSpPr/>
          <p:nvPr/>
        </p:nvSpPr>
        <p:spPr>
          <a:xfrm>
            <a:off x="582156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Oval 21">
            <a:hlinkClick r:id="rId5" action="ppaction://hlinksldjump"/>
          </p:cNvPr>
          <p:cNvSpPr/>
          <p:nvPr/>
        </p:nvSpPr>
        <p:spPr>
          <a:xfrm>
            <a:off x="609588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Oval 22">
            <a:hlinkClick r:id="rId6" action="ppaction://hlinksldjump"/>
          </p:cNvPr>
          <p:cNvSpPr/>
          <p:nvPr/>
        </p:nvSpPr>
        <p:spPr>
          <a:xfrm>
            <a:off x="637020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Oval 23"/>
          <p:cNvSpPr/>
          <p:nvPr/>
        </p:nvSpPr>
        <p:spPr>
          <a:xfrm>
            <a:off x="664452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Oval 24">
            <a:hlinkClick r:id="rId7" action="ppaction://hlinksldjump"/>
          </p:cNvPr>
          <p:cNvSpPr/>
          <p:nvPr/>
        </p:nvSpPr>
        <p:spPr>
          <a:xfrm>
            <a:off x="691884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TextBox 25"/>
          <p:cNvSpPr/>
          <p:nvPr/>
        </p:nvSpPr>
        <p:spPr>
          <a:xfrm>
            <a:off x="1823400" y="3202200"/>
            <a:ext cx="559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de-DE" sz="2400" spc="-1" strike="noStrike">
                <a:solidFill>
                  <a:schemeClr val="dk1"/>
                </a:solidFill>
                <a:latin typeface="Calibri"/>
              </a:rPr>
              <a:t>⏰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27"/>
          <p:cNvSpPr/>
          <p:nvPr/>
        </p:nvSpPr>
        <p:spPr>
          <a:xfrm>
            <a:off x="4441320" y="3202200"/>
            <a:ext cx="53532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de-DE" sz="2800" spc="-1" strike="noStrike">
                <a:solidFill>
                  <a:schemeClr val="dk1"/>
                </a:solidFill>
                <a:latin typeface="Calibri"/>
              </a:rPr>
              <a:t>🧺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29"/>
          <p:cNvSpPr/>
          <p:nvPr/>
        </p:nvSpPr>
        <p:spPr>
          <a:xfrm>
            <a:off x="7068960" y="3202200"/>
            <a:ext cx="581400" cy="17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de-DE" sz="2800" spc="-1" strike="noStrike">
                <a:solidFill>
                  <a:schemeClr val="dk1"/>
                </a:solidFill>
                <a:latin typeface="Calibri"/>
              </a:rPr>
              <a:t>👩🏼‍🍳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Box 31"/>
          <p:cNvSpPr/>
          <p:nvPr/>
        </p:nvSpPr>
        <p:spPr>
          <a:xfrm>
            <a:off x="9629280" y="3202200"/>
            <a:ext cx="58140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DE" sz="2800" spc="-1" strike="noStrike">
                <a:solidFill>
                  <a:schemeClr val="dk1"/>
                </a:solidFill>
                <a:latin typeface="Calibri"/>
              </a:rPr>
              <a:t>📊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Oval 26">
            <a:hlinkClick r:id="rId8" action="ppaction://hlinksldjump"/>
          </p:cNvPr>
          <p:cNvSpPr/>
          <p:nvPr/>
        </p:nvSpPr>
        <p:spPr>
          <a:xfrm>
            <a:off x="719316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Rounded Rectangle 2"/>
          <p:cNvSpPr/>
          <p:nvPr/>
        </p:nvSpPr>
        <p:spPr>
          <a:xfrm>
            <a:off x="914400" y="731520"/>
            <a:ext cx="1371240" cy="365400"/>
          </a:xfrm>
          <a:prstGeom prst="roundRect">
            <a:avLst>
              <a:gd name="adj" fmla="val 16667"/>
            </a:avLst>
          </a:prstGeom>
          <a:solidFill>
            <a:srgbClr val="e0e7ff"/>
          </a:solidFill>
          <a:ln w="9360">
            <a:solidFill>
              <a:srgbClr val="e0e7f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563eb"/>
                </a:solidFill>
                <a:latin typeface="Arial"/>
              </a:rPr>
              <a:t>WORKFLOW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3"/>
          <p:cNvSpPr/>
          <p:nvPr/>
        </p:nvSpPr>
        <p:spPr>
          <a:xfrm>
            <a:off x="731520" y="1188720"/>
            <a:ext cx="73148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Georgia"/>
              </a:rPr>
              <a:t>The Weekly Airflow DAG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Rounded Rectangle 4"/>
          <p:cNvSpPr/>
          <p:nvPr/>
        </p:nvSpPr>
        <p:spPr>
          <a:xfrm>
            <a:off x="1371600" y="2011680"/>
            <a:ext cx="411444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de-DE" sz="1200" spc="-1" strike="noStrike">
                <a:solidFill>
                  <a:srgbClr val="505050"/>
                </a:solidFill>
                <a:latin typeface="Calibri"/>
              </a:rPr>
              <a:t>     </a:t>
            </a:r>
            <a:r>
              <a:rPr b="1" lang="en-US" sz="1200" spc="-1" strike="noStrike">
                <a:solidFill>
                  <a:srgbClr val="505050"/>
                </a:solidFill>
                <a:latin typeface="Calibri"/>
              </a:rPr>
              <a:t>1. ingest_re</a:t>
            </a:r>
            <a:r>
              <a:rPr b="1" lang="de-DE" sz="1200" spc="-1" strike="noStrike">
                <a:solidFill>
                  <a:srgbClr val="505050"/>
                </a:solidFill>
                <a:latin typeface="Calibri"/>
              </a:rPr>
              <a:t>f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Rectangle 5"/>
          <p:cNvSpPr/>
          <p:nvPr/>
        </p:nvSpPr>
        <p:spPr>
          <a:xfrm>
            <a:off x="1371600" y="2011680"/>
            <a:ext cx="136800" cy="50256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Rounded Rectangle 6"/>
          <p:cNvSpPr/>
          <p:nvPr/>
        </p:nvSpPr>
        <p:spPr>
          <a:xfrm>
            <a:off x="1371600" y="2606040"/>
            <a:ext cx="411444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de-DE" sz="1200" spc="-1" strike="noStrike">
                <a:solidFill>
                  <a:srgbClr val="505050"/>
                </a:solidFill>
                <a:latin typeface="Calibri"/>
              </a:rPr>
              <a:t>     </a:t>
            </a:r>
            <a:r>
              <a:rPr b="1" lang="en-US" sz="1200" spc="-1" strike="noStrike">
                <a:solidFill>
                  <a:srgbClr val="505050"/>
                </a:solidFill>
                <a:latin typeface="Calibri"/>
              </a:rPr>
              <a:t>2. ingest_traffic_files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Rectangle 7"/>
          <p:cNvSpPr/>
          <p:nvPr/>
        </p:nvSpPr>
        <p:spPr>
          <a:xfrm>
            <a:off x="1371600" y="2606040"/>
            <a:ext cx="136800" cy="50256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Rounded Rectangle 8"/>
          <p:cNvSpPr/>
          <p:nvPr/>
        </p:nvSpPr>
        <p:spPr>
          <a:xfrm>
            <a:off x="1371600" y="3200400"/>
            <a:ext cx="411444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de-DE" sz="1200" spc="-1" strike="noStrike">
                <a:solidFill>
                  <a:srgbClr val="505050"/>
                </a:solidFill>
                <a:latin typeface="Calibri"/>
              </a:rPr>
              <a:t>     </a:t>
            </a:r>
            <a:r>
              <a:rPr b="1" lang="en-US" sz="1200" spc="-1" strike="noStrike">
                <a:solidFill>
                  <a:srgbClr val="505050"/>
                </a:solidFill>
                <a:latin typeface="Calibri"/>
              </a:rPr>
              <a:t>3. load_traffic_to_bronze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Rectangle 9"/>
          <p:cNvSpPr/>
          <p:nvPr/>
        </p:nvSpPr>
        <p:spPr>
          <a:xfrm>
            <a:off x="1371600" y="3200400"/>
            <a:ext cx="136800" cy="502560"/>
          </a:xfrm>
          <a:prstGeom prst="rect">
            <a:avLst/>
          </a:prstGeom>
          <a:solidFill>
            <a:srgbClr val="0891b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Rounded Rectangle 10"/>
          <p:cNvSpPr/>
          <p:nvPr/>
        </p:nvSpPr>
        <p:spPr>
          <a:xfrm>
            <a:off x="1371600" y="3794760"/>
            <a:ext cx="411444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de-DE" sz="1200" spc="-1" strike="noStrike">
                <a:solidFill>
                  <a:srgbClr val="505050"/>
                </a:solidFill>
                <a:latin typeface="Calibri"/>
              </a:rPr>
              <a:t>     </a:t>
            </a:r>
            <a:r>
              <a:rPr b="1" lang="en-US" sz="1200" spc="-1" strike="noStrike">
                <a:solidFill>
                  <a:srgbClr val="505050"/>
                </a:solidFill>
                <a:latin typeface="Calibri"/>
              </a:rPr>
              <a:t>4. run_silver_layer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Rectangle 11"/>
          <p:cNvSpPr/>
          <p:nvPr/>
        </p:nvSpPr>
        <p:spPr>
          <a:xfrm>
            <a:off x="1371600" y="3794760"/>
            <a:ext cx="136800" cy="502560"/>
          </a:xfrm>
          <a:prstGeom prst="rect">
            <a:avLst/>
          </a:prstGeom>
          <a:solidFill>
            <a:srgbClr val="8b5cf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Rounded Rectangle 12"/>
          <p:cNvSpPr/>
          <p:nvPr/>
        </p:nvSpPr>
        <p:spPr>
          <a:xfrm>
            <a:off x="1371600" y="4389120"/>
            <a:ext cx="411444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de-DE" sz="1200" spc="-1" strike="noStrike">
                <a:solidFill>
                  <a:srgbClr val="505050"/>
                </a:solidFill>
                <a:latin typeface="Calibri"/>
              </a:rPr>
              <a:t>     </a:t>
            </a:r>
            <a:r>
              <a:rPr b="1" lang="en-US" sz="1200" spc="-1" strike="noStrike">
                <a:solidFill>
                  <a:srgbClr val="505050"/>
                </a:solidFill>
                <a:latin typeface="Calibri"/>
              </a:rPr>
              <a:t>5. run_gold_layer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Rectangle 13"/>
          <p:cNvSpPr/>
          <p:nvPr/>
        </p:nvSpPr>
        <p:spPr>
          <a:xfrm>
            <a:off x="1371600" y="4389120"/>
            <a:ext cx="136800" cy="502560"/>
          </a:xfrm>
          <a:prstGeom prst="rect">
            <a:avLst/>
          </a:prstGeom>
          <a:solidFill>
            <a:srgbClr val="eab30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Rounded Rectangle 14"/>
          <p:cNvSpPr/>
          <p:nvPr/>
        </p:nvSpPr>
        <p:spPr>
          <a:xfrm>
            <a:off x="1371600" y="4983480"/>
            <a:ext cx="411444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de-DE" sz="1200" spc="-1" strike="noStrike">
                <a:solidFill>
                  <a:srgbClr val="505050"/>
                </a:solidFill>
                <a:latin typeface="Calibri"/>
              </a:rPr>
              <a:t>     </a:t>
            </a:r>
            <a:r>
              <a:rPr b="1" lang="en-US" sz="1200" spc="-1" strike="noStrike">
                <a:solidFill>
                  <a:srgbClr val="505050"/>
                </a:solidFill>
                <a:latin typeface="Calibri"/>
              </a:rPr>
              <a:t>6. publish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Rectangle 15"/>
          <p:cNvSpPr/>
          <p:nvPr/>
        </p:nvSpPr>
        <p:spPr>
          <a:xfrm>
            <a:off x="1371600" y="4983480"/>
            <a:ext cx="136800" cy="502560"/>
          </a:xfrm>
          <a:prstGeom prst="rect">
            <a:avLst/>
          </a:prstGeom>
          <a:solidFill>
            <a:srgbClr val="0891b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" name="Rounded Rectangle 16"/>
          <p:cNvSpPr/>
          <p:nvPr/>
        </p:nvSpPr>
        <p:spPr>
          <a:xfrm>
            <a:off x="1371600" y="5577840"/>
            <a:ext cx="411444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de-DE" sz="1200" spc="-1" strike="noStrike">
                <a:solidFill>
                  <a:srgbClr val="505050"/>
                </a:solidFill>
                <a:latin typeface="Calibri"/>
              </a:rPr>
              <a:t>     </a:t>
            </a:r>
            <a:r>
              <a:rPr b="1" lang="en-US" sz="1200" spc="-1" strike="noStrike">
                <a:solidFill>
                  <a:srgbClr val="505050"/>
                </a:solidFill>
                <a:latin typeface="Calibri"/>
              </a:rPr>
              <a:t>7. refresh_superset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Rectangle 17"/>
          <p:cNvSpPr/>
          <p:nvPr/>
        </p:nvSpPr>
        <p:spPr>
          <a:xfrm>
            <a:off x="1371600" y="5577840"/>
            <a:ext cx="136800" cy="502560"/>
          </a:xfrm>
          <a:prstGeom prst="rect">
            <a:avLst/>
          </a:prstGeom>
          <a:solidFill>
            <a:srgbClr val="0f172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TextBox 18"/>
          <p:cNvSpPr/>
          <p:nvPr/>
        </p:nvSpPr>
        <p:spPr>
          <a:xfrm>
            <a:off x="6095880" y="1951200"/>
            <a:ext cx="5028840" cy="41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50000"/>
              </a:lnSpc>
            </a:pPr>
            <a:r>
              <a:rPr b="1" lang="en-US" sz="1400" spc="-1" strike="noStrike">
                <a:solidFill>
                  <a:srgbClr val="505050"/>
                </a:solidFill>
                <a:latin typeface="Arial"/>
              </a:rPr>
              <a:t>Medallion Architecture &amp; QA Strategy</a:t>
            </a:r>
            <a:r>
              <a:rPr b="0" lang="en-US" sz="1200" spc="-1" strike="noStrike">
                <a:solidFill>
                  <a:srgbClr val="505050"/>
                </a:solidFill>
                <a:latin typeface="Arial"/>
              </a:rPr>
              <a:t>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b="0" lang="en-US" sz="1000" spc="-1" strike="noStrike">
                <a:solidFill>
                  <a:srgbClr val="505050"/>
                </a:solidFill>
                <a:latin typeface="Arial"/>
              </a:rPr>
              <a:t>Data Engineering </a:t>
            </a:r>
            <a:r>
              <a:rPr b="0" lang="de-DE" sz="1000" spc="-1" strike="noStrike">
                <a:solidFill>
                  <a:srgbClr val="505050"/>
                </a:solidFill>
                <a:latin typeface="Arial"/>
              </a:rPr>
              <a:t>"</a:t>
            </a:r>
            <a:r>
              <a:rPr b="0" lang="en-US" sz="1000" spc="-1" strike="noStrike">
                <a:solidFill>
                  <a:srgbClr val="505050"/>
                </a:solidFill>
                <a:latin typeface="Arial"/>
              </a:rPr>
              <a:t>Best Practice</a:t>
            </a:r>
            <a:r>
              <a:rPr b="0" lang="de-DE" sz="1000" spc="-1" strike="noStrike">
                <a:solidFill>
                  <a:srgbClr val="505050"/>
                </a:solidFill>
                <a:latin typeface="Arial"/>
              </a:rPr>
              <a:t>"</a:t>
            </a:r>
            <a:r>
              <a:rPr b="0" lang="en-US" sz="1000" spc="-1" strike="noStrike">
                <a:solidFill>
                  <a:srgbClr val="505050"/>
                </a:solidFill>
                <a:latin typeface="Arial"/>
              </a:rPr>
              <a:t>: A data engineer shouldn’t just move data; they must validate it. We built a dedicated Quality Assurance (QA) pipeline.</a:t>
            </a:r>
            <a:br>
              <a:rPr sz="1200"/>
            </a:br>
            <a:br>
              <a:rPr sz="1200"/>
            </a:br>
            <a:r>
              <a:rPr b="0" lang="en-US" sz="1200" spc="-1" strike="noStrike">
                <a:solidFill>
                  <a:srgbClr val="505050"/>
                </a:solidFill>
                <a:latin typeface="Arial"/>
              </a:rPr>
              <a:t>• </a:t>
            </a:r>
            <a:r>
              <a:rPr b="1" lang="en-US" sz="1200" spc="-1" strike="noStrike">
                <a:solidFill>
                  <a:srgbClr val="0991b3"/>
                </a:solidFill>
                <a:latin typeface="Arial"/>
              </a:rPr>
              <a:t>Bronze Layer</a:t>
            </a:r>
            <a:r>
              <a:rPr b="0" lang="en-US" sz="1200" spc="-1" strike="noStrike">
                <a:solidFill>
                  <a:srgbClr val="505050"/>
                </a:solidFill>
                <a:latin typeface="Arial"/>
              </a:rPr>
              <a:t>: Safely loads remote MinIO traffic files into our persistent Postgres database</a:t>
            </a:r>
            <a:br>
              <a:rPr sz="1200"/>
            </a:br>
            <a:br>
              <a:rPr sz="1200"/>
            </a:br>
            <a:r>
              <a:rPr b="0" lang="en-US" sz="1200" spc="-1" strike="noStrike">
                <a:solidFill>
                  <a:srgbClr val="505050"/>
                </a:solidFill>
                <a:latin typeface="Arial"/>
              </a:rPr>
              <a:t>• </a:t>
            </a:r>
            <a:r>
              <a:rPr b="1" lang="en-US" sz="1200" spc="-1" strike="noStrike">
                <a:solidFill>
                  <a:srgbClr val="8b5cf7"/>
                </a:solidFill>
                <a:latin typeface="Arial"/>
              </a:rPr>
              <a:t>Silver Layer (QA Focus): </a:t>
            </a:r>
            <a:r>
              <a:rPr b="0" lang="en-US" sz="1200" spc="-1" strike="noStrike">
                <a:solidFill>
                  <a:srgbClr val="505050"/>
                </a:solidFill>
                <a:latin typeface="Arial"/>
              </a:rPr>
              <a:t>During cleaning, it flags anomalies (e.g., implausible speeds or missing source files). It then prints a formatted summary and persists a detailed QA report to a dedicated database for tracking</a:t>
            </a:r>
            <a:br>
              <a:rPr sz="1200"/>
            </a:br>
            <a:br>
              <a:rPr sz="1200"/>
            </a:br>
            <a:r>
              <a:rPr b="0" lang="en-US" sz="1200" spc="-1" strike="noStrike">
                <a:solidFill>
                  <a:srgbClr val="505050"/>
                </a:solidFill>
                <a:latin typeface="Arial"/>
              </a:rPr>
              <a:t>• </a:t>
            </a:r>
            <a:r>
              <a:rPr b="1" lang="en-US" sz="1200" spc="-1" strike="noStrike">
                <a:solidFill>
                  <a:srgbClr val="eab305"/>
                </a:solidFill>
                <a:latin typeface="Arial"/>
              </a:rPr>
              <a:t>Gold Layer &amp; Publish</a:t>
            </a:r>
            <a:r>
              <a:rPr b="0" lang="en-US" sz="1200" spc="-1" strike="noStrike">
                <a:solidFill>
                  <a:srgbClr val="505050"/>
                </a:solidFill>
                <a:latin typeface="Arial"/>
              </a:rPr>
              <a:t>: Aggregates metrics to avoid OOM crashes, refreshes the Superset cache, and publishes the final export back to MinIO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ectangle 14"/>
          <p:cNvSpPr/>
          <p:nvPr/>
        </p:nvSpPr>
        <p:spPr>
          <a:xfrm>
            <a:off x="360" y="17640"/>
            <a:ext cx="12191400" cy="6857640"/>
          </a:xfrm>
          <a:prstGeom prst="rect">
            <a:avLst/>
          </a:prstGeom>
          <a:solidFill>
            <a:srgbClr val="f8faf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Rounded Rectangle 7"/>
          <p:cNvSpPr/>
          <p:nvPr/>
        </p:nvSpPr>
        <p:spPr>
          <a:xfrm>
            <a:off x="914400" y="731520"/>
            <a:ext cx="1371240" cy="365400"/>
          </a:xfrm>
          <a:prstGeom prst="roundRect">
            <a:avLst>
              <a:gd name="adj" fmla="val 16667"/>
            </a:avLst>
          </a:prstGeom>
          <a:solidFill>
            <a:srgbClr val="e0e7ff"/>
          </a:solidFill>
          <a:ln w="9360">
            <a:solidFill>
              <a:srgbClr val="e0e7f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563eb"/>
                </a:solidFill>
                <a:latin typeface="Arial"/>
              </a:rPr>
              <a:t>THE OUTPUT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6" name="Picture 1" descr="image.jpg"/>
          <p:cNvPicPr/>
          <p:nvPr/>
        </p:nvPicPr>
        <p:blipFill>
          <a:blip r:embed="rId1">
            <a:alphaModFix amt="85000"/>
          </a:blip>
          <a:stretch/>
        </p:blipFill>
        <p:spPr>
          <a:xfrm>
            <a:off x="2017800" y="2090520"/>
            <a:ext cx="7881480" cy="4035960"/>
          </a:xfrm>
          <a:prstGeom prst="rect">
            <a:avLst/>
          </a:prstGeom>
          <a:ln w="0">
            <a:noFill/>
          </a:ln>
        </p:spPr>
      </p:pic>
      <p:sp>
        <p:nvSpPr>
          <p:cNvPr id="157" name="TextBox 9"/>
          <p:cNvSpPr/>
          <p:nvPr/>
        </p:nvSpPr>
        <p:spPr>
          <a:xfrm>
            <a:off x="731520" y="1188720"/>
            <a:ext cx="857160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Georgia"/>
              </a:rPr>
              <a:t>Public Superset Dashboard</a:t>
            </a:r>
            <a:r>
              <a:rPr b="1" lang="de-DE" sz="3200" spc="-1" strike="noStrike">
                <a:solidFill>
                  <a:srgbClr val="0f172a"/>
                </a:solidFill>
                <a:latin typeface="Georgia"/>
              </a:rPr>
              <a:t>: Demo ✨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Oval 16">
            <a:hlinkClick r:id="rId2" action="ppaction://hlinksldjump"/>
          </p:cNvPr>
          <p:cNvSpPr/>
          <p:nvPr/>
        </p:nvSpPr>
        <p:spPr>
          <a:xfrm>
            <a:off x="499860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" name="Oval 42">
            <a:hlinkClick r:id="rId3" action="ppaction://hlinksldjump"/>
          </p:cNvPr>
          <p:cNvSpPr/>
          <p:nvPr/>
        </p:nvSpPr>
        <p:spPr>
          <a:xfrm>
            <a:off x="527292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Oval 43">
            <a:hlinkClick r:id="rId4" action="ppaction://hlinksldjump"/>
          </p:cNvPr>
          <p:cNvSpPr/>
          <p:nvPr/>
        </p:nvSpPr>
        <p:spPr>
          <a:xfrm>
            <a:off x="554724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Oval 44">
            <a:hlinkClick r:id="rId5" action="ppaction://hlinksldjump"/>
          </p:cNvPr>
          <p:cNvSpPr/>
          <p:nvPr/>
        </p:nvSpPr>
        <p:spPr>
          <a:xfrm>
            <a:off x="582156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Oval 45">
            <a:hlinkClick r:id="rId6" action="ppaction://hlinksldjump"/>
          </p:cNvPr>
          <p:cNvSpPr/>
          <p:nvPr/>
        </p:nvSpPr>
        <p:spPr>
          <a:xfrm>
            <a:off x="6370200" y="639504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Oval 46">
            <a:hlinkClick r:id="rId7" action="ppaction://hlinksldjump"/>
          </p:cNvPr>
          <p:cNvSpPr/>
          <p:nvPr/>
        </p:nvSpPr>
        <p:spPr>
          <a:xfrm>
            <a:off x="6095880" y="6400800"/>
            <a:ext cx="136800" cy="136800"/>
          </a:xfrm>
          <a:prstGeom prst="ellipse">
            <a:avLst/>
          </a:prstGeom>
          <a:solidFill>
            <a:srgbClr val="2563eb"/>
          </a:solidFill>
          <a:ln w="9360">
            <a:solidFill>
              <a:srgbClr val="2563e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" name="Oval 47">
            <a:hlinkClick r:id="rId8" action="ppaction://hlinksldjump"/>
          </p:cNvPr>
          <p:cNvSpPr/>
          <p:nvPr/>
        </p:nvSpPr>
        <p:spPr>
          <a:xfrm>
            <a:off x="664452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" name="Oval 48">
            <a:hlinkClick r:id="rId9" action="ppaction://hlinksldjump"/>
          </p:cNvPr>
          <p:cNvSpPr/>
          <p:nvPr/>
        </p:nvSpPr>
        <p:spPr>
          <a:xfrm>
            <a:off x="691884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Oval 49">
            <a:hlinkClick r:id="rId10" action="ppaction://hlinksldjump"/>
          </p:cNvPr>
          <p:cNvSpPr/>
          <p:nvPr/>
        </p:nvSpPr>
        <p:spPr>
          <a:xfrm>
            <a:off x="472428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 2"/>
          <p:cNvSpPr/>
          <p:nvPr/>
        </p:nvSpPr>
        <p:spPr>
          <a:xfrm>
            <a:off x="0" y="1080"/>
            <a:ext cx="12191400" cy="6857640"/>
          </a:xfrm>
          <a:prstGeom prst="rect">
            <a:avLst/>
          </a:prstGeom>
          <a:solidFill>
            <a:srgbClr val="f8faf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" name="Rounded Rectangle 20"/>
          <p:cNvSpPr/>
          <p:nvPr/>
        </p:nvSpPr>
        <p:spPr>
          <a:xfrm>
            <a:off x="914400" y="731520"/>
            <a:ext cx="1371240" cy="365400"/>
          </a:xfrm>
          <a:prstGeom prst="roundRect">
            <a:avLst>
              <a:gd name="adj" fmla="val 16667"/>
            </a:avLst>
          </a:prstGeom>
          <a:solidFill>
            <a:srgbClr val="e0e7ff"/>
          </a:solidFill>
          <a:ln w="9360">
            <a:solidFill>
              <a:srgbClr val="e0e7f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563eb"/>
                </a:solidFill>
                <a:latin typeface="Arial"/>
              </a:rPr>
              <a:t>COLLABORATION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12"/>
          <p:cNvSpPr/>
          <p:nvPr/>
        </p:nvSpPr>
        <p:spPr>
          <a:xfrm>
            <a:off x="731520" y="1188720"/>
            <a:ext cx="8390880" cy="103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Georgia"/>
              </a:rPr>
              <a:t>Project Workflow &amp; Team Synergy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Rounded Rectangle 21"/>
          <p:cNvSpPr/>
          <p:nvPr/>
        </p:nvSpPr>
        <p:spPr>
          <a:xfrm>
            <a:off x="914400" y="2224080"/>
            <a:ext cx="4114800" cy="3948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" name="Rectangle 16"/>
          <p:cNvSpPr/>
          <p:nvPr/>
        </p:nvSpPr>
        <p:spPr>
          <a:xfrm>
            <a:off x="1006560" y="2224080"/>
            <a:ext cx="3794040" cy="6192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7280" bIns="17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" name="TextBox 14"/>
          <p:cNvSpPr/>
          <p:nvPr/>
        </p:nvSpPr>
        <p:spPr>
          <a:xfrm>
            <a:off x="914400" y="2514600"/>
            <a:ext cx="4114800" cy="369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1300" spc="-1" strike="noStrike">
                <a:solidFill>
                  <a:srgbClr val="2463ec"/>
                </a:solidFill>
                <a:latin typeface="Arial"/>
              </a:rPr>
              <a:t>1. </a:t>
            </a:r>
            <a:r>
              <a:rPr b="1" lang="en-GB" sz="1300" spc="-1" strike="noStrike">
                <a:solidFill>
                  <a:srgbClr val="2463ec"/>
                </a:solidFill>
                <a:latin typeface="Arial"/>
              </a:rPr>
              <a:t>What went well</a:t>
            </a:r>
            <a:br>
              <a:rPr sz="1300"/>
            </a:br>
            <a:br>
              <a:rPr sz="1300"/>
            </a:br>
            <a:r>
              <a:rPr b="1" lang="de-DE" sz="1300" spc="-1" strike="noStrike">
                <a:solidFill>
                  <a:srgbClr val="505050"/>
                </a:solidFill>
                <a:latin typeface="Arial"/>
              </a:rPr>
              <a:t>We parallelised: </a:t>
            </a:r>
            <a:r>
              <a:rPr b="0" lang="de-DE" sz="1300" spc="-1" strike="noStrike">
                <a:solidFill>
                  <a:srgbClr val="505050"/>
                </a:solidFill>
                <a:latin typeface="Arial"/>
              </a:rPr>
              <a:t> one person owned ingestion and architecture, one transformation and data quality, one visualisation and orchestration. We had a working pipeline before we had all the pieces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de-DE" sz="1300" spc="-1" strike="noStrike">
                <a:solidFill>
                  <a:srgbClr val="505050"/>
                </a:solidFill>
                <a:latin typeface="Arial"/>
              </a:rPr>
              <a:t>GitHub helped contain the mess:</a:t>
            </a:r>
            <a:r>
              <a:rPr b="0" lang="de-DE" sz="1300" spc="-1" strike="noStrike">
                <a:solidFill>
                  <a:srgbClr val="505050"/>
                </a:solidFill>
                <a:latin typeface="Arial"/>
              </a:rPr>
              <a:t> the overlaps still created duplicate work and some inconsistencies, but at least we could see what each other had written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de-DE" sz="1300" spc="-1" strike="noStrike">
                <a:solidFill>
                  <a:srgbClr val="505050"/>
                </a:solidFill>
                <a:latin typeface="Arial"/>
              </a:rPr>
              <a:t>We made a utils folder:</a:t>
            </a:r>
            <a:r>
              <a:rPr b="0" lang="de-DE" sz="1300" spc="-1" strike="noStrike">
                <a:solidFill>
                  <a:srgbClr val="505050"/>
                </a:solidFill>
                <a:latin typeface="Arial"/>
              </a:rPr>
              <a:t> nothing revolutionary, but having one place for repetitive stuff like DB connections and timezone parsing meant we stopped rewriting the same functions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Rounded Rectangle 23"/>
          <p:cNvSpPr/>
          <p:nvPr/>
        </p:nvSpPr>
        <p:spPr>
          <a:xfrm>
            <a:off x="6570000" y="2224080"/>
            <a:ext cx="4205880" cy="3948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Rectangle 19"/>
          <p:cNvSpPr/>
          <p:nvPr/>
        </p:nvSpPr>
        <p:spPr>
          <a:xfrm>
            <a:off x="6818760" y="2224080"/>
            <a:ext cx="3565440" cy="61920"/>
          </a:xfrm>
          <a:prstGeom prst="rect">
            <a:avLst/>
          </a:prstGeom>
          <a:solidFill>
            <a:srgbClr val="8b5cf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7280" bIns="17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TextBox 17"/>
          <p:cNvSpPr/>
          <p:nvPr/>
        </p:nvSpPr>
        <p:spPr>
          <a:xfrm>
            <a:off x="6629400" y="2514600"/>
            <a:ext cx="4114800" cy="28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GB" sz="1300" spc="-1" strike="noStrike">
                <a:solidFill>
                  <a:srgbClr val="8b5cf7"/>
                </a:solidFill>
                <a:latin typeface="Arial"/>
              </a:rPr>
              <a:t>2. What can we do better</a:t>
            </a:r>
            <a:br>
              <a:rPr sz="1300"/>
            </a:b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GB" sz="1300" spc="-1" strike="noStrike">
                <a:solidFill>
                  <a:srgbClr val="505050"/>
                </a:solidFill>
                <a:latin typeface="Arial"/>
              </a:rPr>
              <a:t>We didn't always bother </a:t>
            </a:r>
            <a:r>
              <a:rPr b="1" lang="en-GB" sz="1300" spc="-1" strike="noStrike">
                <a:solidFill>
                  <a:srgbClr val="505050"/>
                </a:solidFill>
                <a:latin typeface="Arial"/>
              </a:rPr>
              <a:t>activating the virtual environmen</a:t>
            </a:r>
            <a:r>
              <a:rPr b="0" lang="en-GB" sz="1300" spc="-1" strike="noStrike">
                <a:solidFill>
                  <a:srgbClr val="505050"/>
                </a:solidFill>
                <a:latin typeface="Arial"/>
              </a:rPr>
              <a:t>t: for a quick function it felt unnecessary, but with Python 3.8 and Airflow 2.7 that casualness caught up with us at merge time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GB" sz="1300" spc="-1" strike="noStrike">
                <a:solidFill>
                  <a:srgbClr val="505050"/>
                </a:solidFill>
                <a:latin typeface="Arial"/>
              </a:rPr>
              <a:t>We didn't profile our data well: </a:t>
            </a:r>
            <a:r>
              <a:rPr b="0" lang="en-GB" sz="1300" spc="-1" strike="noStrike">
                <a:solidFill>
                  <a:srgbClr val="505050"/>
                </a:solidFill>
                <a:latin typeface="Arial"/>
              </a:rPr>
              <a:t>we expected 2.5M rows, got 8M, used Pandas, and our pipeline crashed until we figured out chunking and batching the hard way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GB" sz="1300" spc="-1" strike="noStrike">
                <a:solidFill>
                  <a:srgbClr val="505050"/>
                </a:solidFill>
                <a:latin typeface="Arial"/>
              </a:rPr>
              <a:t>We tested on mock data until quite late</a:t>
            </a:r>
            <a:r>
              <a:rPr b="0" lang="en-GB" sz="1300" spc="-1" strike="noStrike">
                <a:solidFill>
                  <a:srgbClr val="505050"/>
                </a:solidFill>
                <a:latin typeface="Arial"/>
              </a:rPr>
              <a:t>: mock data is well-behaved, real data isn't, and we felt that gap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Oval 50">
            <a:hlinkClick r:id="rId1" action="ppaction://hlinksldjump"/>
          </p:cNvPr>
          <p:cNvSpPr/>
          <p:nvPr/>
        </p:nvSpPr>
        <p:spPr>
          <a:xfrm>
            <a:off x="499860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7" name="Oval 51">
            <a:hlinkClick r:id="rId2" action="ppaction://hlinksldjump"/>
          </p:cNvPr>
          <p:cNvSpPr/>
          <p:nvPr/>
        </p:nvSpPr>
        <p:spPr>
          <a:xfrm>
            <a:off x="527292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" name="Oval 52">
            <a:hlinkClick r:id="rId3" action="ppaction://hlinksldjump"/>
          </p:cNvPr>
          <p:cNvSpPr/>
          <p:nvPr/>
        </p:nvSpPr>
        <p:spPr>
          <a:xfrm>
            <a:off x="554724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9" name="Oval 53">
            <a:hlinkClick r:id="rId4" action="ppaction://hlinksldjump"/>
          </p:cNvPr>
          <p:cNvSpPr/>
          <p:nvPr/>
        </p:nvSpPr>
        <p:spPr>
          <a:xfrm>
            <a:off x="582156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" name="Oval 54">
            <a:hlinkClick r:id="rId5" action="ppaction://hlinksldjump"/>
          </p:cNvPr>
          <p:cNvSpPr/>
          <p:nvPr/>
        </p:nvSpPr>
        <p:spPr>
          <a:xfrm>
            <a:off x="609588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" name="Oval 55">
            <a:hlinkClick r:id="rId6" action="ppaction://hlinksldjump"/>
          </p:cNvPr>
          <p:cNvSpPr/>
          <p:nvPr/>
        </p:nvSpPr>
        <p:spPr>
          <a:xfrm>
            <a:off x="664452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Oval 56">
            <a:hlinkClick r:id="rId7" action="ppaction://hlinksldjump"/>
          </p:cNvPr>
          <p:cNvSpPr/>
          <p:nvPr/>
        </p:nvSpPr>
        <p:spPr>
          <a:xfrm>
            <a:off x="6370200" y="6400800"/>
            <a:ext cx="136800" cy="136800"/>
          </a:xfrm>
          <a:prstGeom prst="ellipse">
            <a:avLst/>
          </a:prstGeom>
          <a:solidFill>
            <a:srgbClr val="2563eb"/>
          </a:solidFill>
          <a:ln w="9360">
            <a:solidFill>
              <a:srgbClr val="2563e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Oval 57">
            <a:hlinkClick r:id="rId8" action="ppaction://hlinksldjump"/>
          </p:cNvPr>
          <p:cNvSpPr/>
          <p:nvPr/>
        </p:nvSpPr>
        <p:spPr>
          <a:xfrm>
            <a:off x="691884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" name="Oval 58">
            <a:hlinkClick r:id="rId9" action="ppaction://hlinksldjump"/>
          </p:cNvPr>
          <p:cNvSpPr/>
          <p:nvPr/>
        </p:nvSpPr>
        <p:spPr>
          <a:xfrm>
            <a:off x="472428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 8"/>
          <p:cNvSpPr/>
          <p:nvPr/>
        </p:nvSpPr>
        <p:spPr>
          <a:xfrm>
            <a:off x="-50040" y="0"/>
            <a:ext cx="12241440" cy="6857640"/>
          </a:xfrm>
          <a:prstGeom prst="rect">
            <a:avLst/>
          </a:prstGeom>
          <a:solidFill>
            <a:srgbClr val="f8faf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" name="Rounded Rectangle 15"/>
          <p:cNvSpPr/>
          <p:nvPr/>
        </p:nvSpPr>
        <p:spPr>
          <a:xfrm>
            <a:off x="914400" y="731520"/>
            <a:ext cx="1371240" cy="365400"/>
          </a:xfrm>
          <a:prstGeom prst="roundRect">
            <a:avLst>
              <a:gd name="adj" fmla="val 16667"/>
            </a:avLst>
          </a:prstGeom>
          <a:solidFill>
            <a:srgbClr val="e0e7ff"/>
          </a:solidFill>
          <a:ln w="9360">
            <a:solidFill>
              <a:srgbClr val="e0e7f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de-DE" sz="1000" spc="-1" strike="noStrike">
                <a:solidFill>
                  <a:srgbClr val="2563eb"/>
                </a:solidFill>
                <a:latin typeface="Arial"/>
              </a:rPr>
              <a:t>POTENTIALS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Box 6"/>
          <p:cNvSpPr/>
          <p:nvPr/>
        </p:nvSpPr>
        <p:spPr>
          <a:xfrm>
            <a:off x="731520" y="1188720"/>
            <a:ext cx="8390880" cy="103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Georgia"/>
              </a:rPr>
              <a:t>Next Steps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We are expecting more to come…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Rounded Rectangle 17"/>
          <p:cNvSpPr/>
          <p:nvPr/>
        </p:nvSpPr>
        <p:spPr>
          <a:xfrm>
            <a:off x="914400" y="2743200"/>
            <a:ext cx="3200040" cy="237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" name="Rounded Rectangle 18"/>
          <p:cNvSpPr/>
          <p:nvPr/>
        </p:nvSpPr>
        <p:spPr>
          <a:xfrm>
            <a:off x="4389120" y="2743200"/>
            <a:ext cx="3200040" cy="237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0" name="Rounded Rectangle 19"/>
          <p:cNvSpPr/>
          <p:nvPr/>
        </p:nvSpPr>
        <p:spPr>
          <a:xfrm>
            <a:off x="7863840" y="2743200"/>
            <a:ext cx="3200040" cy="237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1" name="Oval 33">
            <a:hlinkClick r:id="rId1" action="ppaction://hlinksldjump"/>
          </p:cNvPr>
          <p:cNvSpPr/>
          <p:nvPr/>
        </p:nvSpPr>
        <p:spPr>
          <a:xfrm>
            <a:off x="488016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" name="Oval 34">
            <a:hlinkClick r:id="rId2" action="ppaction://hlinksldjump"/>
          </p:cNvPr>
          <p:cNvSpPr/>
          <p:nvPr/>
        </p:nvSpPr>
        <p:spPr>
          <a:xfrm>
            <a:off x="515448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" name="Oval 35">
            <a:hlinkClick r:id="rId3" action="ppaction://hlinksldjump"/>
          </p:cNvPr>
          <p:cNvSpPr/>
          <p:nvPr/>
        </p:nvSpPr>
        <p:spPr>
          <a:xfrm>
            <a:off x="542880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" name="Oval 36">
            <a:hlinkClick r:id="rId4" action="ppaction://hlinksldjump"/>
          </p:cNvPr>
          <p:cNvSpPr/>
          <p:nvPr/>
        </p:nvSpPr>
        <p:spPr>
          <a:xfrm>
            <a:off x="570312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5" name="Oval 37">
            <a:hlinkClick r:id="rId5" action="ppaction://hlinksldjump"/>
          </p:cNvPr>
          <p:cNvSpPr/>
          <p:nvPr/>
        </p:nvSpPr>
        <p:spPr>
          <a:xfrm>
            <a:off x="597744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6" name="Oval 38">
            <a:hlinkClick r:id="rId6" action="ppaction://hlinksldjump"/>
          </p:cNvPr>
          <p:cNvSpPr/>
          <p:nvPr/>
        </p:nvSpPr>
        <p:spPr>
          <a:xfrm>
            <a:off x="625176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7" name="Oval 39">
            <a:hlinkClick r:id="rId7" action="ppaction://hlinksldjump"/>
          </p:cNvPr>
          <p:cNvSpPr/>
          <p:nvPr/>
        </p:nvSpPr>
        <p:spPr>
          <a:xfrm>
            <a:off x="6800400" y="6400800"/>
            <a:ext cx="136800" cy="136800"/>
          </a:xfrm>
          <a:prstGeom prst="ellipse">
            <a:avLst/>
          </a:prstGeom>
          <a:solidFill>
            <a:srgbClr val="2563eb"/>
          </a:solidFill>
          <a:ln w="9360">
            <a:solidFill>
              <a:srgbClr val="2563e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8" name="Oval 40">
            <a:hlinkClick r:id="rId8" action="ppaction://hlinksldjump"/>
          </p:cNvPr>
          <p:cNvSpPr/>
          <p:nvPr/>
        </p:nvSpPr>
        <p:spPr>
          <a:xfrm>
            <a:off x="652608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" name="Oval 41">
            <a:hlinkClick r:id="rId9" action="ppaction://hlinksldjump"/>
          </p:cNvPr>
          <p:cNvSpPr/>
          <p:nvPr/>
        </p:nvSpPr>
        <p:spPr>
          <a:xfrm>
            <a:off x="707472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1143000" y="3034440"/>
            <a:ext cx="2743200" cy="176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Tying up loose ends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we still need to apply the city's visual guidelines, get a traffic engineer to sanity check our assumptions about cars and bikes, and make sure error alerts reach a real person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4572000" y="3056400"/>
            <a:ext cx="2743200" cy="1600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Go public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we present to the borough in early June and have been invited to showcase at the Berlin Data Lab annual conference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8229600" y="3056400"/>
            <a:ext cx="2477880" cy="1566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Take it further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all Berlin boroughs run the same sensors; if this works, each one could plug into the same pipeline and feed a single citywide dashboard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ctangle 1"/>
          <p:cNvSpPr/>
          <p:nvPr/>
        </p:nvSpPr>
        <p:spPr>
          <a:xfrm>
            <a:off x="0" y="-16200"/>
            <a:ext cx="12191400" cy="6857640"/>
          </a:xfrm>
          <a:prstGeom prst="rect">
            <a:avLst/>
          </a:prstGeom>
          <a:solidFill>
            <a:srgbClr val="f8faf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4" name="TextBox 2"/>
          <p:cNvSpPr/>
          <p:nvPr/>
        </p:nvSpPr>
        <p:spPr>
          <a:xfrm>
            <a:off x="1828800" y="2286000"/>
            <a:ext cx="85338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800" spc="-1" strike="noStrike">
                <a:solidFill>
                  <a:srgbClr val="0f172a"/>
                </a:solidFill>
                <a:latin typeface="Georgia"/>
              </a:rPr>
              <a:t>Data, Delivered.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Box 3"/>
          <p:cNvSpPr/>
          <p:nvPr/>
        </p:nvSpPr>
        <p:spPr>
          <a:xfrm>
            <a:off x="1828800" y="2955600"/>
            <a:ext cx="853380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505050"/>
                </a:solidFill>
                <a:latin typeface="Arial"/>
              </a:rPr>
              <a:t>Transforming unused vendor data into actionable insights for the public.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Rounded Rectangle 4"/>
          <p:cNvSpPr/>
          <p:nvPr/>
        </p:nvSpPr>
        <p:spPr>
          <a:xfrm>
            <a:off x="2534040" y="4114800"/>
            <a:ext cx="2037600" cy="365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00b050"/>
                </a:solidFill>
                <a:latin typeface="Arial"/>
              </a:rPr>
              <a:t>FULLY AUTOMATED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Rounded Rectangle 5"/>
          <p:cNvSpPr/>
          <p:nvPr/>
        </p:nvSpPr>
        <p:spPr>
          <a:xfrm>
            <a:off x="5015880" y="4114800"/>
            <a:ext cx="2037600" cy="365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de-DE" sz="1000" spc="-1" strike="noStrike">
                <a:solidFill>
                  <a:srgbClr val="00b050"/>
                </a:solidFill>
                <a:latin typeface="Arial"/>
              </a:rPr>
              <a:t>       </a:t>
            </a:r>
            <a:r>
              <a:rPr b="1" lang="en-US" sz="1000" spc="-1" strike="noStrike">
                <a:solidFill>
                  <a:srgbClr val="00b050"/>
                </a:solidFill>
                <a:latin typeface="Arial"/>
              </a:rPr>
              <a:t>BERLIN OPEN DATA HUB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Rounded Rectangle 6"/>
          <p:cNvSpPr/>
          <p:nvPr/>
        </p:nvSpPr>
        <p:spPr>
          <a:xfrm>
            <a:off x="7498080" y="4114800"/>
            <a:ext cx="2037600" cy="365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de-DE" sz="1000" spc="-1" strike="noStrike">
                <a:solidFill>
                  <a:srgbClr val="00b050"/>
                </a:solidFill>
                <a:latin typeface="Arial"/>
              </a:rPr>
              <a:t>     </a:t>
            </a:r>
            <a:r>
              <a:rPr b="1" lang="en-US" sz="1000" spc="-1" strike="noStrike">
                <a:solidFill>
                  <a:srgbClr val="00b050"/>
                </a:solidFill>
                <a:latin typeface="Arial"/>
              </a:rPr>
              <a:t>MULTI-DISTRICT READY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Oval 7">
            <a:hlinkClick r:id="rId1" action="ppaction://hlinksldjump"/>
          </p:cNvPr>
          <p:cNvSpPr/>
          <p:nvPr/>
        </p:nvSpPr>
        <p:spPr>
          <a:xfrm>
            <a:off x="499860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0" name="Oval 8">
            <a:hlinkClick r:id="rId2" action="ppaction://hlinksldjump"/>
          </p:cNvPr>
          <p:cNvSpPr/>
          <p:nvPr/>
        </p:nvSpPr>
        <p:spPr>
          <a:xfrm>
            <a:off x="527292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1" name="Oval 9">
            <a:hlinkClick r:id="rId3" action="ppaction://hlinksldjump"/>
          </p:cNvPr>
          <p:cNvSpPr/>
          <p:nvPr/>
        </p:nvSpPr>
        <p:spPr>
          <a:xfrm>
            <a:off x="554724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2" name="Oval 10">
            <a:hlinkClick r:id="rId4" action="ppaction://hlinksldjump"/>
          </p:cNvPr>
          <p:cNvSpPr/>
          <p:nvPr/>
        </p:nvSpPr>
        <p:spPr>
          <a:xfrm>
            <a:off x="582156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" name="Oval 11">
            <a:hlinkClick r:id="rId5" action="ppaction://hlinksldjump"/>
          </p:cNvPr>
          <p:cNvSpPr/>
          <p:nvPr/>
        </p:nvSpPr>
        <p:spPr>
          <a:xfrm>
            <a:off x="609588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" name="Oval 12">
            <a:hlinkClick r:id="rId6" action="ppaction://hlinksldjump"/>
          </p:cNvPr>
          <p:cNvSpPr/>
          <p:nvPr/>
        </p:nvSpPr>
        <p:spPr>
          <a:xfrm>
            <a:off x="637020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5" name="Oval 13"/>
          <p:cNvSpPr/>
          <p:nvPr/>
        </p:nvSpPr>
        <p:spPr>
          <a:xfrm>
            <a:off x="664452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6" name="Oval 14">
            <a:hlinkClick r:id="rId7" action="ppaction://hlinksldjump"/>
          </p:cNvPr>
          <p:cNvSpPr/>
          <p:nvPr/>
        </p:nvSpPr>
        <p:spPr>
          <a:xfrm>
            <a:off x="6918840" y="6400800"/>
            <a:ext cx="136800" cy="136800"/>
          </a:xfrm>
          <a:prstGeom prst="ellipse">
            <a:avLst/>
          </a:prstGeom>
          <a:solidFill>
            <a:srgbClr val="2563eb"/>
          </a:solidFill>
          <a:ln w="9360">
            <a:solidFill>
              <a:srgbClr val="2563e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17" name="Picture 16" descr="A cartoon rocket with fire coming out of it&#10;&#10;AI-generated content may be incorrect."/>
          <p:cNvPicPr/>
          <p:nvPr/>
        </p:nvPicPr>
        <p:blipFill>
          <a:blip r:embed="rId8"/>
          <a:stretch/>
        </p:blipFill>
        <p:spPr>
          <a:xfrm>
            <a:off x="5135760" y="1172160"/>
            <a:ext cx="1155240" cy="1130040"/>
          </a:xfrm>
          <a:prstGeom prst="rect">
            <a:avLst/>
          </a:prstGeom>
          <a:ln w="0">
            <a:noFill/>
          </a:ln>
        </p:spPr>
      </p:pic>
      <p:pic>
        <p:nvPicPr>
          <p:cNvPr id="218" name="Picture 18" descr="A green square with a white tick&#10;&#10;AI-generated content may be incorrect."/>
          <p:cNvPicPr/>
          <p:nvPr/>
        </p:nvPicPr>
        <p:blipFill>
          <a:blip r:embed="rId9"/>
          <a:stretch/>
        </p:blipFill>
        <p:spPr>
          <a:xfrm>
            <a:off x="2648520" y="4191480"/>
            <a:ext cx="216000" cy="212040"/>
          </a:xfrm>
          <a:prstGeom prst="rect">
            <a:avLst/>
          </a:prstGeom>
          <a:ln w="0">
            <a:noFill/>
          </a:ln>
        </p:spPr>
      </p:pic>
      <p:pic>
        <p:nvPicPr>
          <p:cNvPr id="219" name="Picture 21" descr="A green square with a white tick&#10;&#10;AI-generated content may be incorrect."/>
          <p:cNvPicPr/>
          <p:nvPr/>
        </p:nvPicPr>
        <p:blipFill>
          <a:blip r:embed="rId10"/>
          <a:stretch/>
        </p:blipFill>
        <p:spPr>
          <a:xfrm>
            <a:off x="5135760" y="4191480"/>
            <a:ext cx="216000" cy="212040"/>
          </a:xfrm>
          <a:prstGeom prst="rect">
            <a:avLst/>
          </a:prstGeom>
          <a:ln w="0">
            <a:noFill/>
          </a:ln>
        </p:spPr>
      </p:pic>
      <p:pic>
        <p:nvPicPr>
          <p:cNvPr id="220" name="Picture 22" descr="A green square with a white tick&#10;&#10;AI-generated content may be incorrect."/>
          <p:cNvPicPr/>
          <p:nvPr/>
        </p:nvPicPr>
        <p:blipFill>
          <a:blip r:embed="rId11"/>
          <a:stretch/>
        </p:blipFill>
        <p:spPr>
          <a:xfrm>
            <a:off x="7614360" y="4191480"/>
            <a:ext cx="216000" cy="212040"/>
          </a:xfrm>
          <a:prstGeom prst="rect">
            <a:avLst/>
          </a:prstGeom>
          <a:ln w="0">
            <a:noFill/>
          </a:ln>
        </p:spPr>
      </p:pic>
      <p:sp>
        <p:nvSpPr>
          <p:cNvPr id="221" name="Oval 15">
            <a:hlinkClick r:id="rId12" action="ppaction://hlinksldjump"/>
          </p:cNvPr>
          <p:cNvSpPr/>
          <p:nvPr/>
        </p:nvSpPr>
        <p:spPr>
          <a:xfrm>
            <a:off x="4724280" y="6400800"/>
            <a:ext cx="136800" cy="136800"/>
          </a:xfrm>
          <a:prstGeom prst="ellipse">
            <a:avLst/>
          </a:prstGeom>
          <a:solidFill>
            <a:srgbClr val="c8c8c8"/>
          </a:solidFill>
          <a:ln w="9360">
            <a:solidFill>
              <a:srgbClr val="c8c8c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1827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2026-04-24T20:30:24Z</dcterms:modified>
  <cp:revision>25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6</vt:r8>
  </property>
  <property fmtid="{D5CDD505-2E9C-101B-9397-08002B2CF9AE}" pid="3" name="PresentationFormat">
    <vt:lpwstr>Widescreen</vt:lpwstr>
  </property>
  <property fmtid="{D5CDD505-2E9C-101B-9397-08002B2CF9AE}" pid="4" name="Slides">
    <vt:r8>6</vt:r8>
  </property>
</Properties>
</file>