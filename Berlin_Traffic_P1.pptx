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5" r:id="rId4"/>
    <p:sldId id="258" r:id="rId5"/>
    <p:sldId id="266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91B3"/>
    <a:srgbClr val="8B5CF7"/>
    <a:srgbClr val="2463EC"/>
    <a:srgbClr val="F8FBFD"/>
    <a:srgbClr val="E1EAF8"/>
    <a:srgbClr val="E4EDFA"/>
    <a:srgbClr val="EAB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17"/>
    <p:restoredTop sz="94636"/>
  </p:normalViewPr>
  <p:slideViewPr>
    <p:cSldViewPr snapToGrid="0" snapToObjects="1">
      <p:cViewPr varScale="1">
        <p:scale>
          <a:sx n="139" d="100"/>
          <a:sy n="139" d="100"/>
        </p:scale>
        <p:origin x="704" y="176"/>
      </p:cViewPr>
      <p:guideLst>
        <p:guide orient="horz" pos="2160"/>
        <p:guide pos="288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8408A-008A-3941-ABA6-EBCF80A2C961}" type="datetimeFigureOut">
              <a:rPr lang="en-DE" smtClean="0"/>
              <a:t>24.04.26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D3587-BEA6-CA42-92FD-2F63682DBD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27128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D3587-BEA6-CA42-92FD-2F63682DBD67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84568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D3587-BEA6-CA42-92FD-2F63682DBD67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003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E1F7B-97A3-5E04-A28A-5A1F20BA1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E19DD-DFA4-390E-912F-AFACFCF65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6ABBC-228A-2C15-A9D2-F73F473AB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D7CFA-4B66-ADE4-C61C-D97872BC2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D3587-BEA6-CA42-92FD-2F63682DBD67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86020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D3587-BEA6-CA42-92FD-2F63682DBD67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46725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D3587-BEA6-CA42-92FD-2F63682DBD67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79585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D3587-BEA6-CA42-92FD-2F63682DBD67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78588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" Target="slide1.xml"/><Relationship Id="rId7" Type="http://schemas.openxmlformats.org/officeDocument/2006/relationships/slide" Target="slide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" Target="slide1.xml"/><Relationship Id="rId7" Type="http://schemas.openxmlformats.org/officeDocument/2006/relationships/slide" Target="slide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2.xml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" Target="slide1.xml"/><Relationship Id="rId7" Type="http://schemas.openxmlformats.org/officeDocument/2006/relationships/slide" Target="slid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1.xml"/><Relationship Id="rId7" Type="http://schemas.openxmlformats.org/officeDocument/2006/relationships/slide" Target="slide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2.xm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945" y="-27724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56030" y="2641763"/>
            <a:ext cx="92677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F172A"/>
                </a:solidFill>
                <a:latin typeface="Georgia"/>
              </a:defRPr>
            </a:pPr>
            <a:r>
              <a:rPr dirty="0"/>
              <a:t>Berlin Traffic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2854" y="3711911"/>
            <a:ext cx="85340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05050"/>
                </a:solidFill>
                <a:latin typeface="Arial"/>
              </a:defRPr>
            </a:pPr>
            <a:r>
              <a:rPr sz="2400" dirty="0">
                <a:latin typeface="Georgia" panose="02040502050405020303" pitchFamily="18" charset="0"/>
              </a:rPr>
              <a:t>From siloed mobile sensors to public dashboards</a:t>
            </a:r>
            <a:endParaRPr lang="de-DE" sz="2400" dirty="0">
              <a:latin typeface="Georgia" panose="02040502050405020303" pitchFamily="18" charset="0"/>
            </a:endParaRPr>
          </a:p>
          <a:p>
            <a:pPr algn="ctr"/>
            <a:endParaRPr lang="en-DE" dirty="0">
              <a:latin typeface="Georgia" panose="02040502050405020303" pitchFamily="18" charset="0"/>
            </a:endParaRPr>
          </a:p>
          <a:p>
            <a:pPr algn="ctr"/>
            <a:r>
              <a:rPr lang="en-DE" sz="1200" dirty="0">
                <a:solidFill>
                  <a:srgbClr val="505050"/>
                </a:solidFill>
                <a:latin typeface="Georgia" panose="02040502050405020303" pitchFamily="18" charset="0"/>
              </a:rPr>
              <a:t>#Batch </a:t>
            </a:r>
            <a:r>
              <a:rPr lang="en-GB" sz="1200" dirty="0">
                <a:solidFill>
                  <a:srgbClr val="505050"/>
                </a:solidFill>
                <a:latin typeface="Georgia" panose="02040502050405020303" pitchFamily="18" charset="0"/>
              </a:rPr>
              <a:t>batch-2189 - </a:t>
            </a:r>
            <a:r>
              <a:rPr lang="en-DE" sz="1200" dirty="0">
                <a:solidFill>
                  <a:srgbClr val="505050"/>
                </a:solidFill>
                <a:latin typeface="Georgia" panose="02040502050405020303" pitchFamily="18" charset="0"/>
              </a:rPr>
              <a:t>Team: </a:t>
            </a:r>
            <a:r>
              <a:rPr lang="en-GB" sz="1200" dirty="0">
                <a:solidFill>
                  <a:srgbClr val="505050"/>
                </a:solidFill>
                <a:latin typeface="Georgia" panose="02040502050405020303" pitchFamily="18" charset="0"/>
              </a:rPr>
              <a:t>Karin Schmitt, Dongming Monica Jiang, Lucia Fontana </a:t>
            </a:r>
            <a:endParaRPr sz="1200" dirty="0">
              <a:solidFill>
                <a:srgbClr val="505050"/>
              </a:solidFill>
              <a:latin typeface="Georgia" panose="02040502050405020303" pitchFamily="18" charset="0"/>
            </a:endParaRPr>
          </a:p>
        </p:txBody>
      </p:sp>
      <p:sp>
        <p:nvSpPr>
          <p:cNvPr id="6" name="Oval 5">
            <a:hlinkClick r:id="rId3" action="ppaction://hlinksldjump"/>
          </p:cNvPr>
          <p:cNvSpPr/>
          <p:nvPr/>
        </p:nvSpPr>
        <p:spPr>
          <a:xfrm>
            <a:off x="4998567" y="6453965"/>
            <a:ext cx="137160" cy="1371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hlinkClick r:id="rId4" action="ppaction://hlinksldjump"/>
          </p:cNvPr>
          <p:cNvSpPr/>
          <p:nvPr/>
        </p:nvSpPr>
        <p:spPr>
          <a:xfrm>
            <a:off x="527288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hlinkClick r:id="rId5" action="ppaction://hlinksldjump"/>
          </p:cNvPr>
          <p:cNvSpPr/>
          <p:nvPr/>
        </p:nvSpPr>
        <p:spPr>
          <a:xfrm>
            <a:off x="554720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hlinkClick r:id="rId6" action="ppaction://hlinksldjump"/>
          </p:cNvPr>
          <p:cNvSpPr/>
          <p:nvPr/>
        </p:nvSpPr>
        <p:spPr>
          <a:xfrm>
            <a:off x="582152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hlinkClick r:id="rId6" action="ppaction://hlinksldjump"/>
          </p:cNvPr>
          <p:cNvSpPr/>
          <p:nvPr/>
        </p:nvSpPr>
        <p:spPr>
          <a:xfrm>
            <a:off x="609584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hlinkClick r:id="rId7" action="ppaction://hlinksldjump"/>
          </p:cNvPr>
          <p:cNvSpPr/>
          <p:nvPr/>
        </p:nvSpPr>
        <p:spPr>
          <a:xfrm>
            <a:off x="637016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hlinkClick r:id="" action="ppaction://noaction"/>
          </p:cNvPr>
          <p:cNvSpPr/>
          <p:nvPr/>
        </p:nvSpPr>
        <p:spPr>
          <a:xfrm>
            <a:off x="664448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hlinkClick r:id="rId7" action="ppaction://hlinksldjump"/>
          </p:cNvPr>
          <p:cNvSpPr/>
          <p:nvPr/>
        </p:nvSpPr>
        <p:spPr>
          <a:xfrm>
            <a:off x="691880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CC8F24-6CBB-72D7-F77B-C73A78943A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4756" y="1180707"/>
            <a:ext cx="3427862" cy="1461056"/>
          </a:xfrm>
          <a:prstGeom prst="rect">
            <a:avLst/>
          </a:prstGeom>
        </p:spPr>
      </p:pic>
      <p:sp>
        <p:nvSpPr>
          <p:cNvPr id="5" name="Oval 4">
            <a:hlinkClick r:id="rId7" action="ppaction://hlinksldjump"/>
            <a:extLst>
              <a:ext uri="{FF2B5EF4-FFF2-40B4-BE49-F238E27FC236}">
                <a16:creationId xmlns:a16="http://schemas.microsoft.com/office/drawing/2014/main" id="{250A26B3-8C0F-C4A7-0E54-122E232893DB}"/>
              </a:ext>
            </a:extLst>
          </p:cNvPr>
          <p:cNvSpPr/>
          <p:nvPr/>
        </p:nvSpPr>
        <p:spPr>
          <a:xfrm>
            <a:off x="719312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A4989E7-B98B-CC4D-5D00-752F585D1C3D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371600" cy="36576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rPr sz="3200" dirty="0"/>
              <a:t>Unlocking Sensor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13067" y="2857818"/>
            <a:ext cx="4572000" cy="220306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0">
                <a:solidFill>
                  <a:srgbClr val="505050"/>
                </a:solidFill>
                <a:latin typeface="Arial"/>
              </a:defRPr>
            </a:pPr>
            <a:r>
              <a:rPr sz="1200" b="1" dirty="0"/>
              <a:t>The Problem</a:t>
            </a:r>
            <a:br>
              <a:rPr sz="1200" dirty="0"/>
            </a:br>
            <a:br>
              <a:rPr sz="1200" dirty="0"/>
            </a:br>
            <a:r>
              <a:rPr sz="1200" dirty="0"/>
              <a:t>• 28-41 mobile traffic sensors (counts, speed, vehicle type)</a:t>
            </a:r>
            <a:br>
              <a:rPr sz="1200" dirty="0"/>
            </a:br>
            <a:br>
              <a:rPr sz="1200" dirty="0"/>
            </a:br>
            <a:r>
              <a:rPr sz="1200" dirty="0"/>
              <a:t>• Data locked in vendor web portal (</a:t>
            </a:r>
            <a:r>
              <a:rPr sz="1200" dirty="0" err="1"/>
              <a:t>DDWeb</a:t>
            </a:r>
            <a:r>
              <a:rPr sz="1200" dirty="0"/>
              <a:t>) requiring manual downloads</a:t>
            </a:r>
            <a:br>
              <a:rPr sz="1200" dirty="0"/>
            </a:br>
            <a:br>
              <a:rPr sz="1200" dirty="0"/>
            </a:br>
            <a:r>
              <a:rPr sz="1200" dirty="0"/>
              <a:t>• Disconnected georeferencing table tracking moving sensors</a:t>
            </a:r>
            <a:endParaRPr dirty="0"/>
          </a:p>
        </p:txBody>
      </p:sp>
      <p:sp>
        <p:nvSpPr>
          <p:cNvPr id="8" name="Oval 7">
            <a:hlinkClick r:id="rId3" action="ppaction://hlinksldjump"/>
          </p:cNvPr>
          <p:cNvSpPr/>
          <p:nvPr/>
        </p:nvSpPr>
        <p:spPr>
          <a:xfrm>
            <a:off x="499856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hlinkClick r:id="rId4" action="ppaction://hlinksldjump"/>
          </p:cNvPr>
          <p:cNvSpPr/>
          <p:nvPr/>
        </p:nvSpPr>
        <p:spPr>
          <a:xfrm>
            <a:off x="5272887" y="6453965"/>
            <a:ext cx="137160" cy="1371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hlinkClick r:id="rId5" action="ppaction://hlinksldjump"/>
          </p:cNvPr>
          <p:cNvSpPr/>
          <p:nvPr/>
        </p:nvSpPr>
        <p:spPr>
          <a:xfrm>
            <a:off x="554720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hlinkClick r:id="rId6" action="ppaction://hlinksldjump"/>
          </p:cNvPr>
          <p:cNvSpPr/>
          <p:nvPr/>
        </p:nvSpPr>
        <p:spPr>
          <a:xfrm>
            <a:off x="582152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hlinkClick r:id="rId6" action="ppaction://hlinksldjump"/>
          </p:cNvPr>
          <p:cNvSpPr/>
          <p:nvPr/>
        </p:nvSpPr>
        <p:spPr>
          <a:xfrm>
            <a:off x="609584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hlinkClick r:id="rId7" action="ppaction://hlinksldjump"/>
          </p:cNvPr>
          <p:cNvSpPr/>
          <p:nvPr/>
        </p:nvSpPr>
        <p:spPr>
          <a:xfrm>
            <a:off x="637016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hlinkClick r:id="" action="ppaction://noaction"/>
          </p:cNvPr>
          <p:cNvSpPr/>
          <p:nvPr/>
        </p:nvSpPr>
        <p:spPr>
          <a:xfrm>
            <a:off x="664448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hlinkClick r:id="rId7" action="ppaction://hlinksldjump"/>
          </p:cNvPr>
          <p:cNvSpPr/>
          <p:nvPr/>
        </p:nvSpPr>
        <p:spPr>
          <a:xfrm>
            <a:off x="691880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>
            <a:hlinkClick r:id="rId7" action="ppaction://hlinksldjump"/>
            <a:extLst>
              <a:ext uri="{FF2B5EF4-FFF2-40B4-BE49-F238E27FC236}">
                <a16:creationId xmlns:a16="http://schemas.microsoft.com/office/drawing/2014/main" id="{BCEC5CFD-DE7A-764A-3208-6043458ECDB9}"/>
              </a:ext>
            </a:extLst>
          </p:cNvPr>
          <p:cNvSpPr/>
          <p:nvPr/>
        </p:nvSpPr>
        <p:spPr>
          <a:xfrm>
            <a:off x="719312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A sign on a pole&#10;&#10;AI-generated content may be incorrect.">
            <a:extLst>
              <a:ext uri="{FF2B5EF4-FFF2-40B4-BE49-F238E27FC236}">
                <a16:creationId xmlns:a16="http://schemas.microsoft.com/office/drawing/2014/main" id="{8F950369-2310-7F40-DFBC-F8E56D3CA6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encilGrayscale/>
                    </a14:imgEffect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7418" t="10695"/>
          <a:stretch>
            <a:fillRect/>
          </a:stretch>
        </p:blipFill>
        <p:spPr>
          <a:xfrm>
            <a:off x="975513" y="2432303"/>
            <a:ext cx="4365954" cy="3054096"/>
          </a:xfrm>
          <a:prstGeom prst="round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5D365-5CC8-70DF-A788-0C7A85E10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36F6868-F44F-5DD6-BABF-F801A4E0F175}"/>
              </a:ext>
            </a:extLst>
          </p:cNvPr>
          <p:cNvSpPr/>
          <p:nvPr/>
        </p:nvSpPr>
        <p:spPr>
          <a:xfrm>
            <a:off x="914400" y="731520"/>
            <a:ext cx="1371600" cy="36576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CHALLENGE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A5BADC-79F3-010A-9836-DC5597691A48}"/>
              </a:ext>
            </a:extLst>
          </p:cNvPr>
          <p:cNvSpPr txBox="1"/>
          <p:nvPr/>
        </p:nvSpPr>
        <p:spPr>
          <a:xfrm>
            <a:off x="731520" y="118872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rPr sz="3200" dirty="0"/>
              <a:t>Unlocking Sensor Data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AC7B98-4208-5E32-FD7B-6C97D511E0C3}"/>
              </a:ext>
            </a:extLst>
          </p:cNvPr>
          <p:cNvSpPr/>
          <p:nvPr/>
        </p:nvSpPr>
        <p:spPr>
          <a:xfrm>
            <a:off x="6726783" y="2868471"/>
            <a:ext cx="4572000" cy="2203067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0">
                <a:solidFill>
                  <a:srgbClr val="505050"/>
                </a:solidFill>
                <a:latin typeface="Arial"/>
              </a:defRPr>
            </a:pPr>
            <a:r>
              <a:rPr sz="1200" b="1" dirty="0"/>
              <a:t>The Goal</a:t>
            </a:r>
            <a:br>
              <a:rPr sz="1200" dirty="0"/>
            </a:br>
            <a:br>
              <a:rPr sz="1200" dirty="0"/>
            </a:br>
            <a:r>
              <a:rPr sz="1200" dirty="0"/>
              <a:t>• Build </a:t>
            </a:r>
            <a:r>
              <a:rPr lang="de-DE" sz="1200" dirty="0"/>
              <a:t>an </a:t>
            </a:r>
            <a:r>
              <a:rPr sz="1200" dirty="0"/>
              <a:t>automated pipeline for aggregated datasets &amp; public dashboard</a:t>
            </a:r>
            <a:br>
              <a:rPr sz="1200" dirty="0"/>
            </a:br>
            <a:br>
              <a:rPr sz="1200" dirty="0"/>
            </a:br>
            <a:r>
              <a:rPr sz="1200" dirty="0"/>
              <a:t>• Provide key metrics: Modal split, V85 speed, hourly flow</a:t>
            </a:r>
            <a:br>
              <a:rPr sz="1200" dirty="0"/>
            </a:br>
            <a:br>
              <a:rPr sz="1200" dirty="0"/>
            </a:br>
            <a:r>
              <a:rPr sz="1200" dirty="0"/>
              <a:t>• Multi-district scalable architecture (one config file = one district)</a:t>
            </a:r>
          </a:p>
        </p:txBody>
      </p:sp>
      <p:sp>
        <p:nvSpPr>
          <p:cNvPr id="8" name="Oval 7">
            <a:hlinkClick r:id="rId3" action="ppaction://hlinksldjump"/>
            <a:extLst>
              <a:ext uri="{FF2B5EF4-FFF2-40B4-BE49-F238E27FC236}">
                <a16:creationId xmlns:a16="http://schemas.microsoft.com/office/drawing/2014/main" id="{A15BFCF5-45D9-BCB9-EA94-DF58B0ABD6AB}"/>
              </a:ext>
            </a:extLst>
          </p:cNvPr>
          <p:cNvSpPr/>
          <p:nvPr/>
        </p:nvSpPr>
        <p:spPr>
          <a:xfrm>
            <a:off x="499856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hlinkClick r:id="rId4" action="ppaction://hlinksldjump"/>
            <a:extLst>
              <a:ext uri="{FF2B5EF4-FFF2-40B4-BE49-F238E27FC236}">
                <a16:creationId xmlns:a16="http://schemas.microsoft.com/office/drawing/2014/main" id="{391F6DE4-AB6E-51C9-0E62-30C6D017141D}"/>
              </a:ext>
            </a:extLst>
          </p:cNvPr>
          <p:cNvSpPr/>
          <p:nvPr/>
        </p:nvSpPr>
        <p:spPr>
          <a:xfrm>
            <a:off x="5272887" y="6453965"/>
            <a:ext cx="137160" cy="1371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hlinkClick r:id="rId5" action="ppaction://hlinksldjump"/>
            <a:extLst>
              <a:ext uri="{FF2B5EF4-FFF2-40B4-BE49-F238E27FC236}">
                <a16:creationId xmlns:a16="http://schemas.microsoft.com/office/drawing/2014/main" id="{0D2AC84D-20D8-40AF-16D8-E02F8F4FB25E}"/>
              </a:ext>
            </a:extLst>
          </p:cNvPr>
          <p:cNvSpPr/>
          <p:nvPr/>
        </p:nvSpPr>
        <p:spPr>
          <a:xfrm>
            <a:off x="554720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hlinkClick r:id="rId6" action="ppaction://hlinksldjump"/>
            <a:extLst>
              <a:ext uri="{FF2B5EF4-FFF2-40B4-BE49-F238E27FC236}">
                <a16:creationId xmlns:a16="http://schemas.microsoft.com/office/drawing/2014/main" id="{97FD921C-688F-3EFC-BB15-C518EB26E56E}"/>
              </a:ext>
            </a:extLst>
          </p:cNvPr>
          <p:cNvSpPr/>
          <p:nvPr/>
        </p:nvSpPr>
        <p:spPr>
          <a:xfrm>
            <a:off x="582152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hlinkClick r:id="rId6" action="ppaction://hlinksldjump"/>
            <a:extLst>
              <a:ext uri="{FF2B5EF4-FFF2-40B4-BE49-F238E27FC236}">
                <a16:creationId xmlns:a16="http://schemas.microsoft.com/office/drawing/2014/main" id="{4F2E5D9E-2E9B-26C1-4529-C74984A38CF8}"/>
              </a:ext>
            </a:extLst>
          </p:cNvPr>
          <p:cNvSpPr/>
          <p:nvPr/>
        </p:nvSpPr>
        <p:spPr>
          <a:xfrm>
            <a:off x="609584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hlinkClick r:id="rId7" action="ppaction://hlinksldjump"/>
            <a:extLst>
              <a:ext uri="{FF2B5EF4-FFF2-40B4-BE49-F238E27FC236}">
                <a16:creationId xmlns:a16="http://schemas.microsoft.com/office/drawing/2014/main" id="{29F5D280-EC4B-98CA-32EF-D5787955C8A0}"/>
              </a:ext>
            </a:extLst>
          </p:cNvPr>
          <p:cNvSpPr/>
          <p:nvPr/>
        </p:nvSpPr>
        <p:spPr>
          <a:xfrm>
            <a:off x="637016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hlinkClick r:id="" action="ppaction://noaction"/>
            <a:extLst>
              <a:ext uri="{FF2B5EF4-FFF2-40B4-BE49-F238E27FC236}">
                <a16:creationId xmlns:a16="http://schemas.microsoft.com/office/drawing/2014/main" id="{451CEAB8-860C-8298-F6EE-95A662B60D7A}"/>
              </a:ext>
            </a:extLst>
          </p:cNvPr>
          <p:cNvSpPr/>
          <p:nvPr/>
        </p:nvSpPr>
        <p:spPr>
          <a:xfrm>
            <a:off x="664448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hlinkClick r:id="rId7" action="ppaction://hlinksldjump"/>
            <a:extLst>
              <a:ext uri="{FF2B5EF4-FFF2-40B4-BE49-F238E27FC236}">
                <a16:creationId xmlns:a16="http://schemas.microsoft.com/office/drawing/2014/main" id="{91D96B46-B347-0DCF-E646-109C2EE50773}"/>
              </a:ext>
            </a:extLst>
          </p:cNvPr>
          <p:cNvSpPr/>
          <p:nvPr/>
        </p:nvSpPr>
        <p:spPr>
          <a:xfrm>
            <a:off x="691880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>
            <a:hlinkClick r:id="rId7" action="ppaction://hlinksldjump"/>
            <a:extLst>
              <a:ext uri="{FF2B5EF4-FFF2-40B4-BE49-F238E27FC236}">
                <a16:creationId xmlns:a16="http://schemas.microsoft.com/office/drawing/2014/main" id="{BA7C7921-605C-1982-7EF7-5C96FCF0A18C}"/>
              </a:ext>
            </a:extLst>
          </p:cNvPr>
          <p:cNvSpPr/>
          <p:nvPr/>
        </p:nvSpPr>
        <p:spPr>
          <a:xfrm>
            <a:off x="719312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41DECB-4C6C-6552-E615-3C05DFA5E2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2340207"/>
            <a:ext cx="4991253" cy="325959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88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0092" y="0"/>
            <a:ext cx="1224209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371600" cy="36576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rPr sz="3200" dirty="0"/>
              <a:t>The Central City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10152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Arial"/>
              </a:defRPr>
            </a:pPr>
            <a:r>
              <a:rPr sz="1400" dirty="0"/>
              <a:t>Running on the strong </a:t>
            </a:r>
            <a:r>
              <a:rPr sz="1400" b="1" dirty="0" err="1"/>
              <a:t>CityLAB</a:t>
            </a:r>
            <a:r>
              <a:rPr sz="1400" b="1" dirty="0"/>
              <a:t> Berlin Open Data Hub </a:t>
            </a:r>
            <a:r>
              <a:rPr sz="1400" dirty="0"/>
              <a:t>(CIVITAS/CORE stack).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2377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1082040" y="2926080"/>
            <a:ext cx="2043932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663812"/>
            <a:ext cx="2377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  <a:latin typeface="Arial"/>
              </a:defRPr>
            </a:pPr>
            <a:r>
              <a:rPr b="1" dirty="0"/>
              <a:t>Airflow</a:t>
            </a:r>
            <a:br>
              <a:rPr dirty="0"/>
            </a:br>
            <a:endParaRPr lang="de-DE" dirty="0"/>
          </a:p>
          <a:p>
            <a:pPr algn="ctr">
              <a:defRPr sz="1400" b="0">
                <a:solidFill>
                  <a:srgbClr val="505050"/>
                </a:solidFill>
                <a:latin typeface="Arial"/>
              </a:defRPr>
            </a:pPr>
            <a:br>
              <a:rPr dirty="0"/>
            </a:br>
            <a:r>
              <a:rPr sz="1200" dirty="0"/>
              <a:t>Orchestration and scheduling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520440" y="2926080"/>
            <a:ext cx="2377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89499" y="2926080"/>
            <a:ext cx="2042515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3663812"/>
            <a:ext cx="23774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  <a:latin typeface="Arial"/>
              </a:defRPr>
            </a:pPr>
            <a:r>
              <a:rPr b="1" dirty="0" err="1"/>
              <a:t>MinIO</a:t>
            </a:r>
            <a:br>
              <a:rPr dirty="0"/>
            </a:br>
            <a:endParaRPr lang="de-DE" dirty="0"/>
          </a:p>
          <a:p>
            <a:pPr algn="ctr">
              <a:defRPr sz="1400" b="0">
                <a:solidFill>
                  <a:srgbClr val="505050"/>
                </a:solidFill>
                <a:latin typeface="Arial"/>
              </a:defRPr>
            </a:pPr>
            <a:br>
              <a:rPr dirty="0"/>
            </a:br>
            <a:r>
              <a:rPr sz="1200" dirty="0"/>
              <a:t>Raw data archiving &amp; final exports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126480" y="2926080"/>
            <a:ext cx="2377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94122" y="2926080"/>
            <a:ext cx="2042514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3535" y="3663812"/>
            <a:ext cx="23774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  <a:latin typeface="Arial"/>
              </a:defRPr>
            </a:pPr>
            <a:r>
              <a:rPr b="1" dirty="0"/>
              <a:t>PostgreSQL</a:t>
            </a:r>
            <a:br>
              <a:rPr dirty="0"/>
            </a:br>
            <a:endParaRPr lang="de-DE" dirty="0"/>
          </a:p>
          <a:p>
            <a:pPr algn="ctr">
              <a:defRPr sz="1400" b="0">
                <a:solidFill>
                  <a:srgbClr val="505050"/>
                </a:solidFill>
                <a:latin typeface="Arial"/>
              </a:defRPr>
            </a:pPr>
            <a:br>
              <a:rPr dirty="0"/>
            </a:br>
            <a:r>
              <a:rPr sz="1200" dirty="0"/>
              <a:t>Medallion storage (Bronze, Silver, Gold)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732520" y="2926080"/>
            <a:ext cx="2377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99451" y="2926080"/>
            <a:ext cx="2041452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3663812"/>
            <a:ext cx="23774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  <a:latin typeface="Arial"/>
              </a:defRPr>
            </a:pPr>
            <a:r>
              <a:rPr b="1" dirty="0"/>
              <a:t>Superset</a:t>
            </a:r>
            <a:br>
              <a:rPr dirty="0"/>
            </a:br>
            <a:endParaRPr lang="de-DE" dirty="0"/>
          </a:p>
          <a:p>
            <a:pPr algn="ctr">
              <a:defRPr sz="1400" b="0">
                <a:solidFill>
                  <a:srgbClr val="505050"/>
                </a:solidFill>
                <a:latin typeface="Arial"/>
              </a:defRPr>
            </a:pPr>
            <a:br>
              <a:rPr dirty="0"/>
            </a:br>
            <a:r>
              <a:rPr sz="1200" dirty="0"/>
              <a:t>Public-facing interactive dashboard</a:t>
            </a:r>
            <a:endParaRPr dirty="0"/>
          </a:p>
        </p:txBody>
      </p:sp>
      <p:sp>
        <p:nvSpPr>
          <p:cNvPr id="18" name="Oval 17">
            <a:hlinkClick r:id="rId3" action="ppaction://hlinksldjump"/>
          </p:cNvPr>
          <p:cNvSpPr/>
          <p:nvPr/>
        </p:nvSpPr>
        <p:spPr>
          <a:xfrm>
            <a:off x="499856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>
            <a:hlinkClick r:id="rId4" action="ppaction://hlinksldjump"/>
          </p:cNvPr>
          <p:cNvSpPr/>
          <p:nvPr/>
        </p:nvSpPr>
        <p:spPr>
          <a:xfrm>
            <a:off x="527288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hlinkClick r:id="rId5" action="ppaction://hlinksldjump"/>
          </p:cNvPr>
          <p:cNvSpPr/>
          <p:nvPr/>
        </p:nvSpPr>
        <p:spPr>
          <a:xfrm>
            <a:off x="5547207" y="6400800"/>
            <a:ext cx="137160" cy="1371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hlinkClick r:id="rId6" action="ppaction://hlinksldjump"/>
          </p:cNvPr>
          <p:cNvSpPr/>
          <p:nvPr/>
        </p:nvSpPr>
        <p:spPr>
          <a:xfrm>
            <a:off x="582152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hlinkClick r:id="rId6" action="ppaction://hlinksldjump"/>
          </p:cNvPr>
          <p:cNvSpPr/>
          <p:nvPr/>
        </p:nvSpPr>
        <p:spPr>
          <a:xfrm>
            <a:off x="609584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hlinkClick r:id="rId7" action="ppaction://hlinksldjump"/>
          </p:cNvPr>
          <p:cNvSpPr/>
          <p:nvPr/>
        </p:nvSpPr>
        <p:spPr>
          <a:xfrm>
            <a:off x="637016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hlinkClick r:id="" action="ppaction://noaction"/>
          </p:cNvPr>
          <p:cNvSpPr/>
          <p:nvPr/>
        </p:nvSpPr>
        <p:spPr>
          <a:xfrm>
            <a:off x="664448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>
            <a:hlinkClick r:id="rId7" action="ppaction://hlinksldjump"/>
          </p:cNvPr>
          <p:cNvSpPr/>
          <p:nvPr/>
        </p:nvSpPr>
        <p:spPr>
          <a:xfrm>
            <a:off x="691880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B8363E-1B42-0C6E-E8EE-871C0F182BA0}"/>
              </a:ext>
            </a:extLst>
          </p:cNvPr>
          <p:cNvSpPr txBox="1"/>
          <p:nvPr/>
        </p:nvSpPr>
        <p:spPr>
          <a:xfrm>
            <a:off x="1856898" y="320214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400" b="1" dirty="0"/>
              <a:t>⏰</a:t>
            </a:r>
            <a:endParaRPr lang="en-DE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532906-1FB3-B533-6698-9CE23797F67D}"/>
              </a:ext>
            </a:extLst>
          </p:cNvPr>
          <p:cNvSpPr txBox="1"/>
          <p:nvPr/>
        </p:nvSpPr>
        <p:spPr>
          <a:xfrm>
            <a:off x="4441345" y="3202147"/>
            <a:ext cx="535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/>
              <a:t>🧺</a:t>
            </a:r>
            <a:endParaRPr lang="en-DE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D346E5-CE0F-AFF7-DD81-52919521FEA9}"/>
              </a:ext>
            </a:extLst>
          </p:cNvPr>
          <p:cNvSpPr txBox="1"/>
          <p:nvPr/>
        </p:nvSpPr>
        <p:spPr>
          <a:xfrm>
            <a:off x="7068978" y="3202147"/>
            <a:ext cx="581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/>
              <a:t>👩🏼‍🍳</a:t>
            </a:r>
            <a:endParaRPr lang="en-DE" sz="2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DB6346-A7C1-460B-7A5D-2715928516C4}"/>
              </a:ext>
            </a:extLst>
          </p:cNvPr>
          <p:cNvSpPr txBox="1"/>
          <p:nvPr/>
        </p:nvSpPr>
        <p:spPr>
          <a:xfrm>
            <a:off x="9629273" y="3202147"/>
            <a:ext cx="581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800" dirty="0"/>
              <a:t>📊</a:t>
            </a:r>
          </a:p>
        </p:txBody>
      </p:sp>
      <p:sp>
        <p:nvSpPr>
          <p:cNvPr id="27" name="Oval 26">
            <a:hlinkClick r:id="rId7" action="ppaction://hlinksldjump"/>
            <a:extLst>
              <a:ext uri="{FF2B5EF4-FFF2-40B4-BE49-F238E27FC236}">
                <a16:creationId xmlns:a16="http://schemas.microsoft.com/office/drawing/2014/main" id="{943ABE1C-19B1-BA44-A0E2-2268B2BB45D5}"/>
              </a:ext>
            </a:extLst>
          </p:cNvPr>
          <p:cNvSpPr/>
          <p:nvPr/>
        </p:nvSpPr>
        <p:spPr>
          <a:xfrm>
            <a:off x="719312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4A5C46-F42B-38B2-0706-21981321C137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371600" cy="36576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rPr sz="3200" dirty="0"/>
              <a:t>The Weekly Airflow DAG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4114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505050"/>
                </a:solidFill>
              </a:defRPr>
            </a:pPr>
            <a:r>
              <a:rPr lang="de-DE" dirty="0"/>
              <a:t>     </a:t>
            </a:r>
            <a:r>
              <a:rPr dirty="0"/>
              <a:t>1. </a:t>
            </a:r>
            <a:r>
              <a:rPr dirty="0" err="1"/>
              <a:t>ingest_re</a:t>
            </a:r>
            <a:r>
              <a:rPr lang="de-DE" dirty="0"/>
              <a:t>f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1371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71600" y="2606040"/>
            <a:ext cx="4114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505050"/>
                </a:solidFill>
              </a:defRPr>
            </a:pPr>
            <a:r>
              <a:rPr lang="de-DE" dirty="0"/>
              <a:t>     </a:t>
            </a:r>
            <a:r>
              <a:rPr dirty="0"/>
              <a:t>2. </a:t>
            </a:r>
            <a:r>
              <a:rPr dirty="0" err="1"/>
              <a:t>ingest_traffic_files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1371600" y="2606040"/>
            <a:ext cx="1371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371600" y="3200400"/>
            <a:ext cx="4114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505050"/>
                </a:solidFill>
              </a:defRPr>
            </a:pPr>
            <a:r>
              <a:rPr lang="de-DE" dirty="0"/>
              <a:t>     </a:t>
            </a:r>
            <a:r>
              <a:rPr dirty="0"/>
              <a:t>3. </a:t>
            </a:r>
            <a:r>
              <a:rPr dirty="0" err="1"/>
              <a:t>load_traffic_to_bronze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1371600" y="3200400"/>
            <a:ext cx="137160" cy="502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371600" y="3794760"/>
            <a:ext cx="4114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505050"/>
                </a:solidFill>
              </a:defRPr>
            </a:pPr>
            <a:r>
              <a:rPr lang="de-DE" dirty="0"/>
              <a:t>     </a:t>
            </a:r>
            <a:r>
              <a:rPr dirty="0"/>
              <a:t>4. </a:t>
            </a:r>
            <a:r>
              <a:rPr dirty="0" err="1"/>
              <a:t>run_silver_layer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1371600" y="3794760"/>
            <a:ext cx="13716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371600" y="4389120"/>
            <a:ext cx="4114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505050"/>
                </a:solidFill>
              </a:defRPr>
            </a:pPr>
            <a:r>
              <a:rPr lang="de-DE" dirty="0"/>
              <a:t>     </a:t>
            </a:r>
            <a:r>
              <a:rPr dirty="0"/>
              <a:t>5. </a:t>
            </a:r>
            <a:r>
              <a:rPr dirty="0" err="1"/>
              <a:t>run_gold_layer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1371600" y="4389120"/>
            <a:ext cx="137160" cy="5029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371600" y="4983480"/>
            <a:ext cx="4114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505050"/>
                </a:solidFill>
              </a:defRPr>
            </a:pPr>
            <a:r>
              <a:rPr lang="de-DE" dirty="0"/>
              <a:t>     </a:t>
            </a:r>
            <a:r>
              <a:rPr dirty="0"/>
              <a:t>6. publish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983480"/>
            <a:ext cx="137160" cy="502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371600" y="5577840"/>
            <a:ext cx="4114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505050"/>
                </a:solidFill>
              </a:defRPr>
            </a:pPr>
            <a:r>
              <a:rPr lang="de-DE" dirty="0"/>
              <a:t>     </a:t>
            </a:r>
            <a:r>
              <a:rPr dirty="0"/>
              <a:t>7. </a:t>
            </a:r>
            <a:r>
              <a:rPr dirty="0" err="1"/>
              <a:t>refresh_superset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1371600" y="5577840"/>
            <a:ext cx="13716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6000" y="1951223"/>
            <a:ext cx="5029200" cy="4189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505050"/>
                </a:solidFill>
                <a:latin typeface="Arial"/>
              </a:defRPr>
            </a:pPr>
            <a:r>
              <a:rPr sz="1400" b="1" dirty="0">
                <a:solidFill>
                  <a:srgbClr val="505050"/>
                </a:solidFill>
                <a:latin typeface="Arial"/>
              </a:rPr>
              <a:t>Medall</a:t>
            </a:r>
            <a:r>
              <a:rPr sz="1400" b="1" dirty="0"/>
              <a:t>ion Architecture &amp; QA Strategy</a:t>
            </a:r>
            <a:r>
              <a:rPr sz="1200" dirty="0"/>
              <a:t>:</a:t>
            </a:r>
            <a:endParaRPr lang="de-DE" sz="1200" dirty="0"/>
          </a:p>
          <a:p>
            <a:pPr algn="l">
              <a:lnSpc>
                <a:spcPct val="150000"/>
              </a:lnSpc>
              <a:defRPr sz="1500" b="0">
                <a:solidFill>
                  <a:srgbClr val="505050"/>
                </a:solidFill>
                <a:latin typeface="Arial"/>
              </a:defRPr>
            </a:pPr>
            <a:r>
              <a:rPr sz="1000" dirty="0"/>
              <a:t>Data Engineering </a:t>
            </a:r>
            <a:r>
              <a:rPr lang="de-DE" sz="1000" dirty="0"/>
              <a:t>"</a:t>
            </a:r>
            <a:r>
              <a:rPr sz="1000" dirty="0"/>
              <a:t>Best Practice</a:t>
            </a:r>
            <a:r>
              <a:rPr lang="de-DE" sz="1000" dirty="0"/>
              <a:t>"</a:t>
            </a:r>
            <a:r>
              <a:rPr sz="1000" dirty="0"/>
              <a:t>: A data engineer shouldn’t just move data; they must validate it. We built a dedicated Quality Assurance (QA) pipeline.</a:t>
            </a:r>
            <a:br>
              <a:rPr sz="1200" dirty="0"/>
            </a:br>
            <a:br>
              <a:rPr sz="1200" dirty="0"/>
            </a:br>
            <a:r>
              <a:rPr sz="1200" dirty="0"/>
              <a:t>• </a:t>
            </a:r>
            <a:r>
              <a:rPr sz="1200" b="1" dirty="0">
                <a:solidFill>
                  <a:srgbClr val="0991B3"/>
                </a:solidFill>
                <a:latin typeface="Arial"/>
              </a:rPr>
              <a:t>Bronze Layer</a:t>
            </a:r>
            <a:r>
              <a:rPr sz="1200" dirty="0"/>
              <a:t>: Safely loads remote </a:t>
            </a:r>
            <a:r>
              <a:rPr sz="1200" dirty="0" err="1"/>
              <a:t>MinIO</a:t>
            </a:r>
            <a:r>
              <a:rPr sz="1200" dirty="0"/>
              <a:t> traffic files into our persistent Postgres database</a:t>
            </a:r>
            <a:br>
              <a:rPr sz="1200" dirty="0"/>
            </a:br>
            <a:br>
              <a:rPr sz="1200" dirty="0"/>
            </a:br>
            <a:r>
              <a:rPr sz="1200" dirty="0"/>
              <a:t>• </a:t>
            </a:r>
            <a:r>
              <a:rPr sz="1200" b="1" dirty="0">
                <a:solidFill>
                  <a:srgbClr val="8B5CF7"/>
                </a:solidFill>
                <a:latin typeface="Arial"/>
              </a:rPr>
              <a:t>Silver Layer (QA Focus): </a:t>
            </a:r>
            <a:r>
              <a:rPr sz="1200" dirty="0"/>
              <a:t>During cleaning, it flags anomalies (e.g., implausible speeds or missing source files). It then prints a formatted summary and persists a detailed QA report to a dedicated database for tracking</a:t>
            </a:r>
            <a:br>
              <a:rPr sz="1200" dirty="0"/>
            </a:br>
            <a:br>
              <a:rPr sz="1200" dirty="0"/>
            </a:br>
            <a:r>
              <a:rPr sz="1200" dirty="0"/>
              <a:t>• </a:t>
            </a:r>
            <a:r>
              <a:rPr sz="1200" b="1" dirty="0">
                <a:solidFill>
                  <a:srgbClr val="EAB305"/>
                </a:solidFill>
                <a:latin typeface="Arial"/>
              </a:rPr>
              <a:t>Gold Layer &amp; Publish</a:t>
            </a:r>
            <a:r>
              <a:rPr sz="1200" dirty="0"/>
              <a:t>: Aggregates metrics to avoid OOM crashes, refreshes the Superset cache, and publishes the final export back to </a:t>
            </a:r>
            <a:r>
              <a:rPr sz="1200" dirty="0" err="1"/>
              <a:t>MinIO</a:t>
            </a:r>
            <a:endParaRPr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-16375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F172A"/>
                </a:solidFill>
                <a:latin typeface="Georgia"/>
              </a:defRPr>
            </a:pPr>
            <a:r>
              <a:t>Data, Delivered.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55425"/>
            <a:ext cx="85340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05050"/>
                </a:solidFill>
                <a:latin typeface="Arial"/>
              </a:defRPr>
            </a:pPr>
            <a:endParaRPr lang="de-DE" dirty="0"/>
          </a:p>
          <a:p>
            <a:pPr algn="ctr">
              <a:defRPr sz="2000" b="0">
                <a:solidFill>
                  <a:srgbClr val="505050"/>
                </a:solidFill>
                <a:latin typeface="Arial"/>
              </a:defRPr>
            </a:pPr>
            <a:r>
              <a:rPr dirty="0"/>
              <a:t>Transforming unused vendor data into actionable insights for the public.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3940" y="4114800"/>
            <a:ext cx="203806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rPr sz="1000" dirty="0">
                <a:solidFill>
                  <a:srgbClr val="00B050"/>
                </a:solidFill>
              </a:rPr>
              <a:t>FULLY AUTOMATED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16010" y="4114800"/>
            <a:ext cx="203806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rPr lang="de-DE" sz="1000" dirty="0">
                <a:solidFill>
                  <a:srgbClr val="00B050"/>
                </a:solidFill>
              </a:rPr>
              <a:t>       </a:t>
            </a:r>
            <a:r>
              <a:rPr sz="1000" dirty="0">
                <a:solidFill>
                  <a:srgbClr val="00B050"/>
                </a:solidFill>
              </a:rPr>
              <a:t>BERLIN OPEN DATA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0" y="4114800"/>
            <a:ext cx="203806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rPr lang="de-DE" dirty="0">
                <a:solidFill>
                  <a:srgbClr val="00B050"/>
                </a:solidFill>
              </a:rPr>
              <a:t>     </a:t>
            </a:r>
            <a:r>
              <a:rPr dirty="0">
                <a:solidFill>
                  <a:srgbClr val="00B050"/>
                </a:solidFill>
              </a:rPr>
              <a:t>MULTI-DISTRICT READY</a:t>
            </a:r>
          </a:p>
        </p:txBody>
      </p:sp>
      <p:sp>
        <p:nvSpPr>
          <p:cNvPr id="8" name="Oval 7">
            <a:hlinkClick r:id="rId3" action="ppaction://hlinksldjump"/>
          </p:cNvPr>
          <p:cNvSpPr/>
          <p:nvPr/>
        </p:nvSpPr>
        <p:spPr>
          <a:xfrm>
            <a:off x="499856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hlinkClick r:id="rId4" action="ppaction://hlinksldjump"/>
          </p:cNvPr>
          <p:cNvSpPr/>
          <p:nvPr/>
        </p:nvSpPr>
        <p:spPr>
          <a:xfrm>
            <a:off x="527288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hlinkClick r:id="rId5" action="ppaction://hlinksldjump"/>
          </p:cNvPr>
          <p:cNvSpPr/>
          <p:nvPr/>
        </p:nvSpPr>
        <p:spPr>
          <a:xfrm>
            <a:off x="554720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hlinkClick r:id="rId6" action="ppaction://hlinksldjump"/>
          </p:cNvPr>
          <p:cNvSpPr/>
          <p:nvPr/>
        </p:nvSpPr>
        <p:spPr>
          <a:xfrm>
            <a:off x="582152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hlinkClick r:id="rId6" action="ppaction://hlinksldjump"/>
          </p:cNvPr>
          <p:cNvSpPr/>
          <p:nvPr/>
        </p:nvSpPr>
        <p:spPr>
          <a:xfrm>
            <a:off x="609584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hlinkClick r:id="rId7" action="ppaction://hlinksldjump"/>
          </p:cNvPr>
          <p:cNvSpPr/>
          <p:nvPr/>
        </p:nvSpPr>
        <p:spPr>
          <a:xfrm>
            <a:off x="637016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hlinkClick r:id="" action="ppaction://noaction"/>
          </p:cNvPr>
          <p:cNvSpPr/>
          <p:nvPr/>
        </p:nvSpPr>
        <p:spPr>
          <a:xfrm>
            <a:off x="664448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hlinkClick r:id="rId7" action="ppaction://hlinksldjump"/>
          </p:cNvPr>
          <p:cNvSpPr/>
          <p:nvPr/>
        </p:nvSpPr>
        <p:spPr>
          <a:xfrm>
            <a:off x="6918807" y="6400800"/>
            <a:ext cx="137160" cy="1371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A cartoon rocket with fire coming out of it&#10;&#10;AI-generated content may be incorrect.">
            <a:extLst>
              <a:ext uri="{FF2B5EF4-FFF2-40B4-BE49-F238E27FC236}">
                <a16:creationId xmlns:a16="http://schemas.microsoft.com/office/drawing/2014/main" id="{92469EA9-F55E-31A7-881A-B054BDDE3A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5727" y="1172210"/>
            <a:ext cx="1155700" cy="1130300"/>
          </a:xfrm>
          <a:prstGeom prst="rect">
            <a:avLst/>
          </a:prstGeom>
        </p:spPr>
      </p:pic>
      <p:pic>
        <p:nvPicPr>
          <p:cNvPr id="19" name="Picture 18" descr="A green square with a white tick&#10;&#10;AI-generated content may be incorrect.">
            <a:extLst>
              <a:ext uri="{FF2B5EF4-FFF2-40B4-BE49-F238E27FC236}">
                <a16:creationId xmlns:a16="http://schemas.microsoft.com/office/drawing/2014/main" id="{B4F5677B-0FF3-D9EF-ABEE-057DA5D762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8650" y="4191567"/>
            <a:ext cx="216470" cy="212225"/>
          </a:xfrm>
          <a:prstGeom prst="rect">
            <a:avLst/>
          </a:prstGeom>
        </p:spPr>
      </p:pic>
      <p:pic>
        <p:nvPicPr>
          <p:cNvPr id="22" name="Picture 21" descr="A green square with a white tick&#10;&#10;AI-generated content may be incorrect.">
            <a:extLst>
              <a:ext uri="{FF2B5EF4-FFF2-40B4-BE49-F238E27FC236}">
                <a16:creationId xmlns:a16="http://schemas.microsoft.com/office/drawing/2014/main" id="{F21A7A24-0D96-7E61-34D6-A270DB56A7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5727" y="4191566"/>
            <a:ext cx="216470" cy="212225"/>
          </a:xfrm>
          <a:prstGeom prst="rect">
            <a:avLst/>
          </a:prstGeom>
        </p:spPr>
      </p:pic>
      <p:pic>
        <p:nvPicPr>
          <p:cNvPr id="23" name="Picture 22" descr="A green square with a white tick&#10;&#10;AI-generated content may be incorrect.">
            <a:extLst>
              <a:ext uri="{FF2B5EF4-FFF2-40B4-BE49-F238E27FC236}">
                <a16:creationId xmlns:a16="http://schemas.microsoft.com/office/drawing/2014/main" id="{2A93BB76-E46A-990B-C900-9EC1EE65B0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4539" y="4191566"/>
            <a:ext cx="216470" cy="212225"/>
          </a:xfrm>
          <a:prstGeom prst="rect">
            <a:avLst/>
          </a:prstGeom>
        </p:spPr>
      </p:pic>
      <p:sp>
        <p:nvSpPr>
          <p:cNvPr id="16" name="Oval 15">
            <a:hlinkClick r:id="rId3" action="ppaction://hlinksldjump"/>
            <a:extLst>
              <a:ext uri="{FF2B5EF4-FFF2-40B4-BE49-F238E27FC236}">
                <a16:creationId xmlns:a16="http://schemas.microsoft.com/office/drawing/2014/main" id="{0BBAD799-870F-5CA1-39E4-BD1634C5352E}"/>
              </a:ext>
            </a:extLst>
          </p:cNvPr>
          <p:cNvSpPr/>
          <p:nvPr/>
        </p:nvSpPr>
        <p:spPr>
          <a:xfrm>
            <a:off x="472424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1820</TotalTime>
  <Words>392</Words>
  <Application>Microsoft Macintosh PowerPoint</Application>
  <PresentationFormat>Widescreen</PresentationFormat>
  <Paragraphs>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Dongming Jiang</cp:lastModifiedBy>
  <cp:revision>22</cp:revision>
  <dcterms:created xsi:type="dcterms:W3CDTF">2013-01-27T09:14:16Z</dcterms:created>
  <dcterms:modified xsi:type="dcterms:W3CDTF">2026-04-24T16:41:00Z</dcterms:modified>
  <cp:category/>
</cp:coreProperties>
</file>